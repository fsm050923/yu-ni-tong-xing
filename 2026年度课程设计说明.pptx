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380" y="48"/>
      </p:cViewPr>
      <p:guideLst>
        <p:guide orient="horz" pos="2160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kern="1200" dirty="0">
                <a:latin typeface="+mj-lt"/>
                <a:ea typeface="+mj-ea"/>
                <a:cs typeface="+mj-cs"/>
              </a:rPr>
              <a:t>2026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年度软件工程课程设计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Tx/>
            </a:pPr>
            <a:endParaRPr lang="zh-CN" altLang="zh-CN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上课时间：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29-7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日，共</a:t>
            </a:r>
            <a:r>
              <a:rPr lang="en-US" altLang="zh-CN" dirty="0"/>
              <a:t>4</a:t>
            </a:r>
            <a:r>
              <a:rPr lang="zh-CN" altLang="en-US" dirty="0"/>
              <a:t>周，不设定固定上课地点</a:t>
            </a:r>
            <a:r>
              <a:rPr lang="zh-CN" altLang="en-US" dirty="0"/>
              <a:t>和时间</a:t>
            </a:r>
            <a:endParaRPr lang="zh-CN" altLang="en-US" dirty="0"/>
          </a:p>
          <a:p>
            <a:pPr eaLnBrk="1" hangingPunct="1"/>
            <a:r>
              <a:rPr lang="zh-CN" altLang="en-US" dirty="0"/>
              <a:t>课程</a:t>
            </a:r>
            <a:r>
              <a:rPr lang="zh-CN" altLang="en-US" dirty="0"/>
              <a:t>内容：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软件工程专业方向课程设计在</a:t>
            </a:r>
            <a:r>
              <a:rPr lang="zh-CN" altLang="en-US" b="1" u="sng" dirty="0">
                <a:solidFill>
                  <a:schemeClr val="accent2"/>
                </a:solidFill>
              </a:rPr>
              <a:t>一个设计题目</a:t>
            </a:r>
            <a:r>
              <a:rPr lang="zh-CN" altLang="en-US" dirty="0"/>
              <a:t>中以小组形式完成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结课之前以小组形式提交一份任务书和一份报告，并以小组形式进行答辩和演示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分组及评价标准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分组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4</a:t>
            </a:r>
            <a:r>
              <a:rPr lang="zh-CN" altLang="en-US" sz="2400" dirty="0"/>
              <a:t>人一组，每组选出</a:t>
            </a:r>
            <a:r>
              <a:rPr lang="en-US" altLang="zh-CN" sz="2400" dirty="0"/>
              <a:t>1</a:t>
            </a:r>
            <a:r>
              <a:rPr lang="zh-CN" altLang="en-US" sz="2400" dirty="0"/>
              <a:t>名组长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评价标准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平时成绩（</a:t>
            </a:r>
            <a:r>
              <a:rPr lang="en-US" altLang="zh-CN" sz="2400" dirty="0"/>
              <a:t>60</a:t>
            </a:r>
            <a:r>
              <a:rPr lang="zh-CN" altLang="en-US" sz="2400" dirty="0"/>
              <a:t>分）</a:t>
            </a:r>
            <a:endParaRPr lang="zh-CN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400" dirty="0"/>
              <a:t>按</a:t>
            </a:r>
            <a:r>
              <a:rPr lang="en-US" altLang="zh-CN" sz="2400" dirty="0"/>
              <a:t>6</a:t>
            </a:r>
            <a:r>
              <a:rPr lang="zh-CN" altLang="en-US" sz="2400" dirty="0"/>
              <a:t>个里程碑进行检查，每次</a:t>
            </a:r>
            <a:r>
              <a:rPr lang="en-US" altLang="zh-CN" sz="2400" dirty="0"/>
              <a:t>10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大作业</a:t>
            </a:r>
            <a:r>
              <a:rPr lang="en-US" altLang="zh-CN" sz="2400" dirty="0"/>
              <a:t>/</a:t>
            </a:r>
            <a:r>
              <a:rPr lang="zh-CN" altLang="en-US" sz="2400" dirty="0"/>
              <a:t>报告（</a:t>
            </a:r>
            <a:r>
              <a:rPr lang="en-US" altLang="zh-CN" sz="2400" dirty="0"/>
              <a:t>30</a:t>
            </a:r>
            <a:r>
              <a:rPr lang="zh-CN" altLang="en-US" sz="2400" dirty="0"/>
              <a:t>分）</a:t>
            </a:r>
            <a:endParaRPr lang="zh-CN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400" dirty="0"/>
              <a:t>根据项目的</a:t>
            </a:r>
            <a:r>
              <a:rPr lang="zh-CN" altLang="zh-CN" sz="2400" dirty="0"/>
              <a:t>问题规模、技术难度、实现程度</a:t>
            </a:r>
            <a:r>
              <a:rPr lang="zh-CN" altLang="en-US" sz="2400" dirty="0"/>
              <a:t>进行评价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项目汇报（</a:t>
            </a:r>
            <a:r>
              <a:rPr lang="en-US" altLang="zh-CN" sz="2400" dirty="0"/>
              <a:t>10</a:t>
            </a:r>
            <a:r>
              <a:rPr lang="zh-CN" altLang="en-US" sz="2400" dirty="0"/>
              <a:t>分）</a:t>
            </a:r>
            <a:endParaRPr lang="zh-CN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400" dirty="0"/>
              <a:t>演示（</a:t>
            </a:r>
            <a:r>
              <a:rPr lang="en-US" altLang="zh-CN" sz="2400" dirty="0"/>
              <a:t>4</a:t>
            </a:r>
            <a:r>
              <a:rPr lang="zh-CN" altLang="en-US" sz="2400" dirty="0"/>
              <a:t>分）、贡献（</a:t>
            </a:r>
            <a:r>
              <a:rPr lang="en-US" altLang="zh-CN" sz="2400" dirty="0"/>
              <a:t>4</a:t>
            </a:r>
            <a:r>
              <a:rPr lang="zh-CN" altLang="en-US" sz="2400" dirty="0"/>
              <a:t>分）、答辩（</a:t>
            </a:r>
            <a:r>
              <a:rPr lang="en-US" altLang="zh-CN" sz="2400" dirty="0"/>
              <a:t>2</a:t>
            </a:r>
            <a:r>
              <a:rPr lang="zh-CN" altLang="en-US" sz="2400" dirty="0"/>
              <a:t>分）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日程安排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571500" y="1628775"/>
            <a:ext cx="80010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周：确定题目，明确分工，需求和技术调研等</a:t>
            </a:r>
            <a:endParaRPr lang="zh-CN" altLang="en-US" sz="2400" dirty="0"/>
          </a:p>
          <a:p>
            <a:pPr eaLnBrk="1" hangingPunct="1"/>
            <a:r>
              <a:rPr lang="en-US" altLang="zh-CN" sz="2400" dirty="0"/>
              <a:t>6</a:t>
            </a:r>
            <a:r>
              <a:rPr lang="zh-CN" altLang="en-US" sz="2400" dirty="0"/>
              <a:t>次里程碑</a:t>
            </a:r>
            <a:endParaRPr lang="zh-CN" altLang="en-US" sz="2400" dirty="0"/>
          </a:p>
          <a:p>
            <a:pPr lvl="1" eaLnBrk="1" hangingPunct="1"/>
            <a:r>
              <a:rPr lang="zh-CN" altLang="en-US" sz="2200" dirty="0"/>
              <a:t>第</a:t>
            </a:r>
            <a:r>
              <a:rPr lang="en-US" altLang="zh-CN" sz="2200" dirty="0"/>
              <a:t>1</a:t>
            </a:r>
            <a:r>
              <a:rPr lang="zh-CN" altLang="en-US" sz="2200" dirty="0"/>
              <a:t>周  </a:t>
            </a:r>
            <a:r>
              <a:rPr lang="en-US" altLang="en-US" sz="2200" dirty="0"/>
              <a:t>①</a:t>
            </a:r>
            <a:r>
              <a:rPr lang="zh-CN" altLang="en-US" sz="2200" dirty="0"/>
              <a:t>需求陈述 </a:t>
            </a:r>
            <a:r>
              <a:rPr lang="en-US" altLang="zh-CN" sz="2200" dirty="0"/>
              <a:t>(7</a:t>
            </a:r>
            <a:r>
              <a:rPr lang="zh-CN" altLang="en-US" sz="2200" dirty="0"/>
              <a:t>月</a:t>
            </a:r>
            <a:r>
              <a:rPr lang="en-US" altLang="zh-CN" sz="2200" dirty="0"/>
              <a:t>3</a:t>
            </a:r>
            <a:r>
              <a:rPr lang="zh-CN" altLang="en-US" sz="2200" dirty="0"/>
              <a:t>日检查</a:t>
            </a:r>
            <a:r>
              <a:rPr lang="en-US" altLang="zh-CN" sz="2200" dirty="0"/>
              <a:t>)</a:t>
            </a:r>
            <a:endParaRPr lang="zh-CN" altLang="en-US" sz="2200" dirty="0"/>
          </a:p>
          <a:p>
            <a:pPr lvl="1" eaLnBrk="1" hangingPunct="1"/>
            <a:r>
              <a:rPr lang="zh-CN" altLang="en-US" sz="2200" dirty="0"/>
              <a:t>第</a:t>
            </a:r>
            <a:r>
              <a:rPr lang="en-US" altLang="zh-CN" sz="2200" dirty="0"/>
              <a:t>1/2</a:t>
            </a:r>
            <a:r>
              <a:rPr lang="zh-CN" altLang="en-US" sz="2200" dirty="0"/>
              <a:t>周  ②分析建模 </a:t>
            </a:r>
            <a:r>
              <a:rPr lang="en-US" altLang="zh-CN" sz="2200" dirty="0"/>
              <a:t>(7</a:t>
            </a:r>
            <a:r>
              <a:rPr lang="zh-CN" altLang="en-US" sz="2200" dirty="0"/>
              <a:t>月</a:t>
            </a:r>
            <a:r>
              <a:rPr lang="en-US" altLang="zh-CN" sz="2200" dirty="0"/>
              <a:t>3</a:t>
            </a:r>
            <a:r>
              <a:rPr lang="zh-CN" altLang="en-US" sz="2200" dirty="0"/>
              <a:t>日</a:t>
            </a:r>
            <a:r>
              <a:rPr lang="en-US" altLang="zh-CN" sz="2200" dirty="0"/>
              <a:t>/7</a:t>
            </a:r>
            <a:r>
              <a:rPr lang="zh-CN" altLang="en-US" sz="2200" dirty="0"/>
              <a:t>月</a:t>
            </a:r>
            <a:r>
              <a:rPr lang="en-US" altLang="zh-CN" sz="2200" dirty="0"/>
              <a:t>10</a:t>
            </a:r>
            <a:r>
              <a:rPr lang="zh-CN" altLang="en-US" sz="2200" dirty="0"/>
              <a:t>日检查</a:t>
            </a:r>
            <a:r>
              <a:rPr lang="en-US" altLang="zh-CN" sz="2200" dirty="0"/>
              <a:t>)</a:t>
            </a:r>
            <a:endParaRPr lang="zh-CN" altLang="en-US" sz="2200" dirty="0"/>
          </a:p>
          <a:p>
            <a:pPr lvl="1" eaLnBrk="1" hangingPunct="1"/>
            <a:r>
              <a:rPr lang="zh-CN" altLang="en-US" sz="2200" dirty="0"/>
              <a:t>第</a:t>
            </a:r>
            <a:r>
              <a:rPr lang="en-US" altLang="zh-CN" sz="2200" dirty="0"/>
              <a:t>2</a:t>
            </a:r>
            <a:r>
              <a:rPr lang="zh-CN" altLang="en-US" sz="2200" dirty="0"/>
              <a:t>周  ③概要设计 </a:t>
            </a:r>
            <a:r>
              <a:rPr lang="en-US" altLang="zh-CN" sz="2200" dirty="0"/>
              <a:t>(7</a:t>
            </a:r>
            <a:r>
              <a:rPr lang="zh-CN" altLang="en-US" sz="2200" dirty="0"/>
              <a:t>月</a:t>
            </a:r>
            <a:r>
              <a:rPr lang="en-US" altLang="zh-CN" sz="2200" dirty="0"/>
              <a:t>10</a:t>
            </a:r>
            <a:r>
              <a:rPr lang="zh-CN" altLang="en-US" sz="2200" dirty="0"/>
              <a:t>日检查</a:t>
            </a:r>
            <a:r>
              <a:rPr lang="en-US" altLang="zh-CN" sz="2200" dirty="0"/>
              <a:t>)</a:t>
            </a:r>
            <a:endParaRPr lang="zh-CN" altLang="en-US" sz="2200" dirty="0"/>
          </a:p>
          <a:p>
            <a:pPr lvl="1" eaLnBrk="1" hangingPunct="1"/>
            <a:r>
              <a:rPr lang="zh-CN" altLang="en-US" sz="2200" dirty="0"/>
              <a:t>第</a:t>
            </a:r>
            <a:r>
              <a:rPr lang="en-US" altLang="zh-CN" sz="2200" dirty="0"/>
              <a:t>3</a:t>
            </a:r>
            <a:r>
              <a:rPr lang="zh-CN" altLang="en-US" sz="2200" dirty="0"/>
              <a:t>周  ④详细设计 </a:t>
            </a:r>
            <a:r>
              <a:rPr lang="en-US" altLang="zh-CN" sz="2200" dirty="0"/>
              <a:t>(7</a:t>
            </a:r>
            <a:r>
              <a:rPr lang="zh-CN" altLang="en-US" sz="2200" dirty="0"/>
              <a:t>月</a:t>
            </a:r>
            <a:r>
              <a:rPr lang="en-US" altLang="zh-CN" sz="2200" dirty="0"/>
              <a:t>17</a:t>
            </a:r>
            <a:r>
              <a:rPr lang="zh-CN" altLang="en-US" sz="2200" dirty="0"/>
              <a:t>日检查</a:t>
            </a:r>
            <a:r>
              <a:rPr lang="en-US" altLang="zh-CN" sz="2200" dirty="0"/>
              <a:t>)</a:t>
            </a:r>
            <a:endParaRPr lang="zh-CN" altLang="en-US" sz="2200" dirty="0"/>
          </a:p>
          <a:p>
            <a:pPr lvl="1" eaLnBrk="1" hangingPunct="1"/>
            <a:r>
              <a:rPr lang="zh-CN" altLang="en-US" sz="2200" dirty="0"/>
              <a:t>第</a:t>
            </a:r>
            <a:r>
              <a:rPr lang="en-US" altLang="zh-CN" sz="2200" dirty="0"/>
              <a:t>4</a:t>
            </a:r>
            <a:r>
              <a:rPr lang="zh-CN" altLang="en-US" sz="2200" dirty="0"/>
              <a:t>周  ⑤编码实现 </a:t>
            </a:r>
            <a:r>
              <a:rPr lang="en-US" altLang="zh-CN" sz="2200" dirty="0"/>
              <a:t>(7</a:t>
            </a:r>
            <a:r>
              <a:rPr lang="zh-CN" altLang="en-US" sz="2200" dirty="0"/>
              <a:t>月</a:t>
            </a:r>
            <a:r>
              <a:rPr lang="en-US" altLang="zh-CN" sz="2200" dirty="0"/>
              <a:t>24</a:t>
            </a:r>
            <a:r>
              <a:rPr lang="zh-CN" altLang="en-US" sz="2200" dirty="0"/>
              <a:t>日检查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lvl="1" eaLnBrk="1" hangingPunct="1"/>
            <a:r>
              <a:rPr lang="zh-CN" altLang="en-US" sz="2200" dirty="0"/>
              <a:t>第</a:t>
            </a:r>
            <a:r>
              <a:rPr lang="en-US" altLang="zh-CN" sz="2200" dirty="0"/>
              <a:t>4</a:t>
            </a:r>
            <a:r>
              <a:rPr lang="zh-CN" altLang="en-US" sz="2200" dirty="0"/>
              <a:t>周  ⑥测试      </a:t>
            </a:r>
            <a:r>
              <a:rPr lang="en-US" altLang="zh-CN" sz="2200" dirty="0"/>
              <a:t>(7</a:t>
            </a:r>
            <a:r>
              <a:rPr lang="zh-CN" altLang="en-US" sz="2200" dirty="0"/>
              <a:t>月</a:t>
            </a:r>
            <a:r>
              <a:rPr lang="en-US" altLang="zh-CN" sz="2200" dirty="0"/>
              <a:t>24</a:t>
            </a:r>
            <a:r>
              <a:rPr lang="zh-CN" altLang="en-US" sz="2200" dirty="0"/>
              <a:t>日检查</a:t>
            </a:r>
            <a:r>
              <a:rPr lang="en-US" altLang="zh-CN" sz="2200" dirty="0"/>
              <a:t>)</a:t>
            </a:r>
            <a:endParaRPr lang="zh-CN" altLang="en-US" sz="2200" dirty="0"/>
          </a:p>
          <a:p>
            <a:pPr eaLnBrk="1" hangingPunct="1"/>
            <a:r>
              <a:rPr lang="zh-CN" altLang="en-US" sz="2400" dirty="0"/>
              <a:t>大作业提交：</a:t>
            </a:r>
            <a:r>
              <a:rPr lang="en-US" altLang="zh-CN" sz="2400" b="1" u="sng" dirty="0">
                <a:solidFill>
                  <a:schemeClr val="accent2"/>
                </a:solidFill>
              </a:rPr>
              <a:t>7</a:t>
            </a:r>
            <a:r>
              <a:rPr lang="zh-CN" altLang="en-US" sz="2400" b="1" u="sng" dirty="0">
                <a:solidFill>
                  <a:schemeClr val="accent2"/>
                </a:solidFill>
              </a:rPr>
              <a:t>月</a:t>
            </a:r>
            <a:r>
              <a:rPr lang="en-US" altLang="zh-CN" sz="2400" b="1" u="sng" dirty="0">
                <a:solidFill>
                  <a:schemeClr val="accent2"/>
                </a:solidFill>
              </a:rPr>
              <a:t>24</a:t>
            </a:r>
            <a:r>
              <a:rPr lang="zh-CN" altLang="en-US" sz="2400" b="1" u="sng" dirty="0">
                <a:solidFill>
                  <a:schemeClr val="accent2"/>
                </a:solidFill>
              </a:rPr>
              <a:t>日</a:t>
            </a:r>
            <a:r>
              <a:rPr lang="zh-CN" altLang="en-US" sz="2400" dirty="0"/>
              <a:t>之前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答辩及系统演示：</a:t>
            </a:r>
            <a:r>
              <a:rPr lang="en-US" altLang="zh-CN" sz="2400" b="1" u="sng" dirty="0">
                <a:solidFill>
                  <a:schemeClr val="accent2"/>
                </a:solidFill>
              </a:rPr>
              <a:t>暂定7</a:t>
            </a:r>
            <a:r>
              <a:rPr lang="zh-CN" altLang="en-US" sz="2400" b="1" u="sng" dirty="0">
                <a:solidFill>
                  <a:schemeClr val="accent2"/>
                </a:solidFill>
              </a:rPr>
              <a:t>月</a:t>
            </a:r>
            <a:r>
              <a:rPr lang="en-US" altLang="zh-CN" sz="2400" b="1" u="sng" dirty="0">
                <a:solidFill>
                  <a:schemeClr val="accent2"/>
                </a:solidFill>
              </a:rPr>
              <a:t>24</a:t>
            </a:r>
            <a:r>
              <a:rPr lang="zh-CN" altLang="en-US" sz="2400" b="1" u="sng" dirty="0">
                <a:solidFill>
                  <a:schemeClr val="accent2"/>
                </a:solidFill>
              </a:rPr>
              <a:t>日</a:t>
            </a:r>
            <a:r>
              <a:rPr lang="zh-CN" altLang="en-US" sz="2400" dirty="0"/>
              <a:t>（答辩地点和方式另行通知</a:t>
            </a:r>
            <a:r>
              <a:rPr lang="zh-CN" altLang="en-US" sz="2800" dirty="0"/>
              <a:t>）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设计要求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39115" y="1557020"/>
            <a:ext cx="8001000" cy="503491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设计题目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基于大模型的科研热点追踪与分析系统设计与实现（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助教：孙运卓，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QQ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1424439736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65250" marR="0" lvl="2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已选同学：罗晨曦，孙敏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哲</a:t>
            </a: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旅行规划一站式服务智能体设计与实现（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助教：庞广洋，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QQ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879313838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65250" marR="0" lvl="2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已选同学：范书铭，黄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光辉</a:t>
            </a: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设计要求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每个组员应有明确的分工，并全程参与项目的设计和开发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答辩时每个组员都要汇报自己的工作和贡献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7117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提交物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574675" y="1773238"/>
            <a:ext cx="8001000" cy="4627562"/>
          </a:xfrm>
        </p:spPr>
        <p:txBody>
          <a:bodyPr vert="horz" wrap="square" lIns="91440" tIns="45720" rIns="91440" bIns="45720" anchor="t" anchorCtr="0"/>
          <a:p>
            <a:r>
              <a:rPr lang="zh-CN" altLang="en-US" sz="2800" dirty="0"/>
              <a:t>里程碑检查</a:t>
            </a:r>
            <a:r>
              <a:rPr lang="en-US" altLang="zh-CN" sz="2800" dirty="0"/>
              <a:t>PPT</a:t>
            </a:r>
            <a:r>
              <a:rPr lang="zh-CN" altLang="en-US" sz="2800" dirty="0"/>
              <a:t>（共</a:t>
            </a:r>
            <a:r>
              <a:rPr lang="en-US" altLang="zh-CN" sz="2800" dirty="0"/>
              <a:t>4</a:t>
            </a:r>
            <a:r>
              <a:rPr lang="zh-CN" altLang="en-US" sz="2800" dirty="0"/>
              <a:t>份）</a:t>
            </a:r>
            <a:endParaRPr lang="en-US" altLang="zh-CN" sz="2800" dirty="0"/>
          </a:p>
          <a:p>
            <a:pPr lvl="1"/>
            <a:r>
              <a:rPr lang="zh-CN" altLang="en-US" dirty="0"/>
              <a:t>需求陈述</a:t>
            </a:r>
            <a:r>
              <a:rPr lang="en-US" altLang="zh-CN" dirty="0"/>
              <a:t>(+</a:t>
            </a:r>
            <a:r>
              <a:rPr lang="zh-CN" altLang="en-US" dirty="0"/>
              <a:t>需求建模</a:t>
            </a:r>
            <a:r>
              <a:rPr lang="en-US" altLang="zh-CN" dirty="0"/>
              <a:t>)ppt 1</a:t>
            </a:r>
            <a:r>
              <a:rPr lang="zh-CN" altLang="en-US" dirty="0"/>
              <a:t>份</a:t>
            </a:r>
            <a:endParaRPr lang="en-US" altLang="zh-CN" dirty="0"/>
          </a:p>
          <a:p>
            <a:pPr lvl="1"/>
            <a:r>
              <a:rPr lang="zh-CN" altLang="en-US" dirty="0"/>
              <a:t>（需求建模</a:t>
            </a:r>
            <a:r>
              <a:rPr lang="en-US" altLang="zh-CN" dirty="0"/>
              <a:t>+</a:t>
            </a:r>
            <a:r>
              <a:rPr lang="zh-CN" altLang="en-US" dirty="0"/>
              <a:t>）概要设计</a:t>
            </a:r>
            <a:r>
              <a:rPr lang="en-US" altLang="zh-CN" dirty="0"/>
              <a:t>PPT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  <a:p>
            <a:pPr lvl="1"/>
            <a:r>
              <a:rPr lang="zh-CN" altLang="en-US" dirty="0"/>
              <a:t>详细设计</a:t>
            </a:r>
            <a:r>
              <a:rPr lang="en-US" altLang="zh-CN" dirty="0"/>
              <a:t>PPT 1</a:t>
            </a:r>
            <a:r>
              <a:rPr lang="zh-CN" altLang="en-US" dirty="0"/>
              <a:t>份</a:t>
            </a:r>
            <a:endParaRPr lang="en-US" altLang="zh-CN" dirty="0"/>
          </a:p>
          <a:p>
            <a:pPr lvl="1"/>
            <a:r>
              <a:rPr lang="zh-CN" altLang="en-US" dirty="0"/>
              <a:t>实现</a:t>
            </a:r>
            <a:r>
              <a:rPr lang="en-US" altLang="zh-CN" dirty="0"/>
              <a:t>+</a:t>
            </a:r>
            <a:r>
              <a:rPr lang="zh-CN" altLang="en-US" dirty="0"/>
              <a:t>测试</a:t>
            </a:r>
            <a:r>
              <a:rPr lang="en-US" altLang="zh-CN" dirty="0"/>
              <a:t>ppt 1</a:t>
            </a:r>
            <a:r>
              <a:rPr lang="zh-CN" altLang="en-US" dirty="0"/>
              <a:t>份</a:t>
            </a:r>
            <a:endParaRPr lang="en-US" altLang="zh-CN" dirty="0"/>
          </a:p>
          <a:p>
            <a:r>
              <a:rPr lang="zh-CN" altLang="en-US" sz="2800" dirty="0"/>
              <a:t>大作业 </a:t>
            </a:r>
            <a:r>
              <a:rPr lang="en-US" altLang="zh-CN" sz="2800" dirty="0"/>
              <a:t>1</a:t>
            </a:r>
            <a:r>
              <a:rPr lang="zh-CN" altLang="en-US" sz="2800" dirty="0"/>
              <a:t>份</a:t>
            </a:r>
            <a:endParaRPr lang="en-US" altLang="zh-CN" sz="2800" dirty="0"/>
          </a:p>
          <a:p>
            <a:r>
              <a:rPr lang="zh-CN" altLang="en-US" sz="2800" dirty="0"/>
              <a:t>任务书</a:t>
            </a:r>
            <a:r>
              <a:rPr lang="en-US" altLang="zh-CN" sz="2800" dirty="0"/>
              <a:t> 1</a:t>
            </a:r>
            <a:r>
              <a:rPr lang="zh-CN" altLang="en-US" sz="2800" dirty="0"/>
              <a:t>份</a:t>
            </a:r>
            <a:endParaRPr lang="en-US" altLang="zh-CN" sz="2800" dirty="0"/>
          </a:p>
          <a:p>
            <a:r>
              <a:rPr lang="zh-CN" altLang="en-US" sz="2800" dirty="0"/>
              <a:t>答辩</a:t>
            </a:r>
            <a:r>
              <a:rPr lang="en-US" altLang="zh-CN" sz="2800" dirty="0"/>
              <a:t>PPT 1</a:t>
            </a:r>
            <a:r>
              <a:rPr lang="zh-CN" altLang="en-US" sz="2800" dirty="0"/>
              <a:t>份</a:t>
            </a:r>
            <a:endParaRPr lang="en-US" altLang="zh-CN" sz="2800" dirty="0"/>
          </a:p>
          <a:p>
            <a:r>
              <a:rPr lang="zh-CN" altLang="en-US" sz="2800" dirty="0"/>
              <a:t>项目的源文件</a:t>
            </a:r>
            <a:r>
              <a:rPr lang="en-US" altLang="zh-CN" sz="2800" dirty="0"/>
              <a:t>/</a:t>
            </a:r>
            <a:r>
              <a:rPr lang="zh-CN" altLang="en-US" sz="2800" dirty="0"/>
              <a:t>安装包</a:t>
            </a:r>
            <a:r>
              <a:rPr lang="en-US" altLang="zh-CN" sz="2800" dirty="0"/>
              <a:t>/</a:t>
            </a:r>
            <a:r>
              <a:rPr lang="zh-CN" altLang="en-US" sz="2800" dirty="0"/>
              <a:t>操作指南等</a:t>
            </a:r>
            <a:endParaRPr lang="en-US" altLang="zh-CN" sz="2800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699</Words>
  <Application>WPS 演示</Application>
  <PresentationFormat>全屏显示(4:3)</PresentationFormat>
  <Paragraphs>60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Verdana</vt:lpstr>
      <vt:lpstr>微软雅黑</vt:lpstr>
      <vt:lpstr>Arial Unicode MS</vt:lpstr>
      <vt:lpstr>Calibri</vt:lpstr>
      <vt:lpstr>Profile</vt:lpstr>
      <vt:lpstr>2026年度软件工程课程设计</vt:lpstr>
      <vt:lpstr>概述</vt:lpstr>
      <vt:lpstr>分组及评价标准</vt:lpstr>
      <vt:lpstr>日程安排</vt:lpstr>
      <vt:lpstr>设计要求</vt:lpstr>
      <vt:lpstr>提交物</vt:lpstr>
    </vt:vector>
  </TitlesOfParts>
  <Company>微软系统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软件工程/数据库课程设计</dc:title>
  <dc:creator>微软用户</dc:creator>
  <cp:lastModifiedBy>wxliang</cp:lastModifiedBy>
  <cp:revision>52</cp:revision>
  <dcterms:created xsi:type="dcterms:W3CDTF">2010-06-28T01:21:00Z</dcterms:created>
  <dcterms:modified xsi:type="dcterms:W3CDTF">2026-06-29T02:34:28Z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CA9F6B028D4D4728A06FA14ABEF176F8_12</vt:lpwstr>
  </property>
  <property fmtid="{D5CDD505-2E9C-101B-9397-08002B2CF9AE}" pid="3" name="KSOProductBuildVer">
    <vt:lpwstr>2052-12.1.0.23542</vt:lpwstr>
  </property>
</Properties>
</file>