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5"/>
  </p:notesMasterIdLst>
  <p:handoutMasterIdLst>
    <p:handoutMasterId r:id="rId26"/>
  </p:handoutMasterIdLst>
  <p:sldIdLst>
    <p:sldId id="16672310" r:id="rId3"/>
    <p:sldId id="11088818" r:id="rId4"/>
    <p:sldId id="16672242" r:id="rId5"/>
    <p:sldId id="16672301" r:id="rId6"/>
    <p:sldId id="16672303" r:id="rId7"/>
    <p:sldId id="16672311" r:id="rId8"/>
    <p:sldId id="16672302" r:id="rId9"/>
    <p:sldId id="16672304" r:id="rId10"/>
    <p:sldId id="16672312" r:id="rId11"/>
    <p:sldId id="16672306" r:id="rId12"/>
    <p:sldId id="16672319" r:id="rId13"/>
    <p:sldId id="16672320" r:id="rId14"/>
    <p:sldId id="16672321" r:id="rId15"/>
    <p:sldId id="16672322" r:id="rId16"/>
    <p:sldId id="16672314" r:id="rId17"/>
    <p:sldId id="16672316" r:id="rId18"/>
    <p:sldId id="16672315" r:id="rId19"/>
    <p:sldId id="16672307" r:id="rId20"/>
    <p:sldId id="16672308" r:id="rId21"/>
    <p:sldId id="16672317" r:id="rId22"/>
    <p:sldId id="16672318" r:id="rId23"/>
    <p:sldId id="1667229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FFF"/>
    <a:srgbClr val="FBAD19"/>
    <a:srgbClr val="FB8F3C"/>
    <a:srgbClr val="F8A651"/>
    <a:srgbClr val="FBAD20"/>
    <a:srgbClr val="F3CA3C"/>
    <a:srgbClr val="F3CC46"/>
    <a:srgbClr val="FFF2D9"/>
    <a:srgbClr val="FFEC4A"/>
    <a:srgbClr val="FFD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6" autoAdjust="0"/>
    <p:restoredTop sz="90402"/>
  </p:normalViewPr>
  <p:slideViewPr>
    <p:cSldViewPr snapToGrid="0" snapToObjects="1" showGuides="1">
      <p:cViewPr>
        <p:scale>
          <a:sx n="100" d="100"/>
          <a:sy n="100" d="100"/>
        </p:scale>
        <p:origin x="17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FF3C-97EA-C606-B611-782ECDCC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8EC358-A3EF-51BD-B5D9-DA25A9099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67FD27-9778-AE9F-A316-7F3E3E2E1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B9EB9A-C23E-74BA-5731-E43A8A086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880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109A-4069-F63F-2157-F00D4606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E89ECA-0378-A394-B331-3B6447268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A7E954-F880-052C-B4D6-2B17A372B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1747B5-03F4-9852-9FBF-A238EA050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099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F179-AC74-625F-8133-6E92E75B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9D1D8C-1C1D-F99D-A705-257CE6EFB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9D049A-896B-D841-6824-3AA9F5706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A7E89-D10B-C249-FA99-EC6814460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531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7546-714A-A458-B80C-0EF7C2CE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9B9982-1951-FD77-B0CC-AA60CA834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4A3108-C103-4219-D14F-D16DB2D1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C5140E-F341-3B39-3F16-9A56E9AB1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21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AE6C-8540-8173-B24C-9FC658AF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7916F3-1EF4-45C8-3952-44F805F36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3D8AB-AB85-8310-C12F-C67A121C4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FFD98-D21F-5A34-2D56-14AE6D8FD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31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EC45C-3468-B195-AF5A-9518F5C8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25CBBB-F502-9470-965E-4FDB912B4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15177B-983F-D2D9-B013-160AE3C48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704D8C-EB76-2179-F9F8-381E0FDE3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402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21A2-07F3-CEF9-7E67-8BE14E9F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879450-D041-43FE-FDDB-F653A43F7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D85029-464D-D61F-4CE9-FB8BDD9DC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441C7-13C5-C0D4-C2E6-9B43EE137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56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C23A-9AAD-9EDC-02DE-0EBB7D603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0BA406-0F26-63A9-0EF7-19F29172E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96C46E-90CA-697A-1B61-F2C50246D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E70BC-1D02-2259-E653-1294E1FAD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701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460B-E80B-5625-311C-D0AAFF97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6FD342-DE02-BFF0-4EE1-AAD3B89EE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C7C78A-BEDF-1EA3-D50C-00AA7EC8B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C582E-C060-8231-6A0D-FD58C2E1E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643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2"/>
          <a:srcRect b="34876"/>
          <a:stretch>
            <a:fillRect/>
          </a:stretch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800" indent="-304800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  <a:t>2026/5/11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9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22.xml"/><Relationship Id="rId7" Type="http://schemas.openxmlformats.org/officeDocument/2006/relationships/image" Target="../media/image1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0518" y="2273300"/>
            <a:ext cx="8670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2026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年中国高校计算机大赛</a:t>
            </a:r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-AIGC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创新赛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89349" y="3429000"/>
            <a:ext cx="4813300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 err="1">
                <a:latin typeface="vivo Sans Bold"/>
              </a:rPr>
              <a:t>作品名称</a:t>
            </a:r>
            <a:r>
              <a:rPr sz="2000" b="1" dirty="0">
                <a:latin typeface="vivo Sans Bold"/>
              </a:rPr>
              <a:t>：《</a:t>
            </a:r>
            <a:r>
              <a:rPr sz="2000" b="1" dirty="0" err="1">
                <a:latin typeface="vivo Sans Bold"/>
              </a:rPr>
              <a:t>与你童行</a:t>
            </a:r>
            <a:r>
              <a:rPr sz="2000" b="1" dirty="0">
                <a:latin typeface="vivo Sans Bold"/>
              </a:rPr>
              <a:t>——</a:t>
            </a:r>
            <a:r>
              <a:rPr sz="2000" b="1" dirty="0" err="1">
                <a:latin typeface="vivo Sans Bold"/>
              </a:rPr>
              <a:t>AI亲子出行规划智能体</a:t>
            </a:r>
            <a:r>
              <a:rPr sz="2000" b="1" dirty="0">
                <a:latin typeface="vivo Sans Bold"/>
              </a:rPr>
              <a:t>》</a:t>
            </a:r>
          </a:p>
          <a:p>
            <a:pPr>
              <a:lnSpc>
                <a:spcPct val="150000"/>
              </a:lnSpc>
            </a:pPr>
            <a:r>
              <a:rPr sz="2000" b="1" dirty="0" err="1">
                <a:latin typeface="vivo Sans Bold"/>
              </a:rPr>
              <a:t>团队名称</a:t>
            </a:r>
            <a:r>
              <a:rPr sz="2000" b="1" dirty="0">
                <a:latin typeface="vivo Sans Bold"/>
              </a:rPr>
              <a:t>：</a:t>
            </a:r>
            <a:r>
              <a:rPr lang="zh-CN" altLang="en-US" sz="2000" b="1" dirty="0">
                <a:ea typeface="vivo Sans" panose="02000500000000000000"/>
              </a:rPr>
              <a:t>菲比啾比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1502" y="1274470"/>
            <a:ext cx="6735217" cy="33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团队名称：</a:t>
            </a:r>
            <a:r>
              <a:rPr lang="zh-CN" altLang="zh-CN" dirty="0">
                <a:ea typeface="vivo Sans" panose="02000500000000000000" pitchFamily="2" charset="-122"/>
              </a:rPr>
              <a:t>菲比啾比</a:t>
            </a:r>
            <a:endParaRPr lang="en-US" altLang="zh-CN" dirty="0">
              <a:ea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团队成员：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 黄光辉，学校 大连理工大学  分工：服务端开发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 朱耀强，学校 大连理工大学  分工：技术负责人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 马志明，学校 大连理工大学  分工：前端开发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 范书铭，学校 大连理工大学  分工：服务端开发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指导老师：刘斌 大连理工大学 软件工程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/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教授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0450" y="1335848"/>
            <a:ext cx="102607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  <a:latin typeface="vivo Sans"/>
              </a:rPr>
              <a:t>作品名称：</a:t>
            </a:r>
            <a:r>
              <a:rPr b="1" dirty="0" err="1">
                <a:latin typeface="vivo Sans"/>
              </a:rPr>
              <a:t>与你童行</a:t>
            </a:r>
            <a:r>
              <a:rPr b="1" dirty="0">
                <a:latin typeface="vivo Sans"/>
              </a:rPr>
              <a:t>——</a:t>
            </a:r>
            <a:r>
              <a:rPr b="1" dirty="0" err="1">
                <a:latin typeface="vivo Sans"/>
              </a:rPr>
              <a:t>AI亲子出行规划智能体</a:t>
            </a:r>
            <a:endParaRPr lang="en-US" b="1" dirty="0"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b="1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作品概述</a:t>
            </a:r>
            <a:r>
              <a:rPr dirty="0">
                <a:solidFill>
                  <a:srgbClr val="415FFF"/>
                </a:solidFill>
                <a:latin typeface="vivo Sans"/>
              </a:rPr>
              <a:t>：</a:t>
            </a:r>
            <a:r>
              <a:rPr lang="zh-CN" altLang="en-US" dirty="0"/>
              <a:t>「</a:t>
            </a:r>
            <a:r>
              <a:rPr dirty="0"/>
              <a:t>与你童行」是一款亲子出行专属AI智能体，面向3-12岁亲子家庭，致力于解决传统出行工具"通用化、文字化、碎片化"的核心痛点。产品以"童行地图"——</a:t>
            </a:r>
            <a:r>
              <a:rPr dirty="0" err="1"/>
              <a:t>业内首个AI生成式亲子专属互动路线图</a:t>
            </a:r>
            <a:r>
              <a:rPr dirty="0"/>
              <a:t>——为核心特色，融合分年龄智能规划引擎（0-3岁/4-6岁/7-12岁三套专属规则）、自然语言对话式全程交互、天气自适应双预案行程、一键分享导出等能力，覆盖亲子出行"规划→导航→调整→分享"全链路。家长只需用自然语言说出需求，即可在10秒内获得量身定制的行程方案和一张能点、能导、能查、能改的亲子出行活地图，彻底告别繁琐攻略，专注享受亲子时光。</a:t>
            </a:r>
          </a:p>
          <a:p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094F2-D2EA-8BD8-121B-3FBFA994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698" y="267878"/>
            <a:ext cx="9300603" cy="1222130"/>
          </a:xfrm>
        </p:spPr>
        <p:txBody>
          <a:bodyPr/>
          <a:lstStyle/>
          <a:p>
            <a:r>
              <a:rPr lang="zh-CN" altLang="en-US" b="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br>
              <a:rPr lang="zh-CN" altLang="en-US" spc="23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1D380C-07D0-8B61-F8BF-4003EF829324}"/>
              </a:ext>
            </a:extLst>
          </p:cNvPr>
          <p:cNvSpPr txBox="1"/>
          <p:nvPr/>
        </p:nvSpPr>
        <p:spPr>
          <a:xfrm>
            <a:off x="871766" y="3325900"/>
            <a:ext cx="10260732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</a:rPr>
              <a:t>作品宣传海报</a:t>
            </a:r>
            <a:endParaRPr dirty="0">
              <a:solidFill>
                <a:srgbClr val="415FF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49404D-FF7B-2FEA-7DDD-1C542D351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2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20450" y="1037900"/>
            <a:ext cx="1014285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核心创新点</a:t>
            </a:r>
            <a:r>
              <a:rPr dirty="0">
                <a:solidFill>
                  <a:srgbClr val="415FFF"/>
                </a:solidFill>
                <a:latin typeface="vivo  Sans"/>
                <a:ea typeface="vivo Sans" panose="02000500000000000000"/>
              </a:rPr>
              <a:t>：</a:t>
            </a:r>
            <a:r>
              <a:rPr lang="en-US" dirty="0">
                <a:solidFill>
                  <a:srgbClr val="415FFF"/>
                </a:solidFill>
                <a:latin typeface="vivo  Sans"/>
                <a:ea typeface="vivo Sans" panose="02000500000000000000"/>
              </a:rPr>
              <a:t> </a:t>
            </a:r>
            <a:r>
              <a:rPr dirty="0">
                <a:latin typeface="vivo  Sans"/>
                <a:ea typeface="vivo Sans" panose="02000500000000000000"/>
              </a:rPr>
              <a:t>"</a:t>
            </a:r>
            <a:r>
              <a:rPr dirty="0" err="1">
                <a:latin typeface="vivo  Sans"/>
                <a:ea typeface="vivo Sans" panose="02000500000000000000"/>
              </a:rPr>
              <a:t>童行地图</a:t>
            </a:r>
            <a:r>
              <a:rPr dirty="0">
                <a:latin typeface="vivo  Sans"/>
                <a:ea typeface="vivo Sans" panose="02000500000000000000"/>
              </a:rPr>
              <a:t>"——业内首个AI生成式亲子专属互动路线图。将传统地图的冰冷折线变为卡通手绘风格的亲子活地图，一张图上集成导航指引、节点信息卡片、周边设施查询、行程实时调整等全部功能，实现"所见即所得，所点即所达"的一站式闭环体验。</a:t>
            </a:r>
            <a:endParaRPr lang="en-US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设计背景与洞察</a:t>
            </a:r>
            <a:r>
              <a:rPr dirty="0">
                <a:solidFill>
                  <a:srgbClr val="415FFF"/>
                </a:solidFill>
              </a:rPr>
              <a:t>：</a:t>
            </a:r>
            <a:r>
              <a:rPr lang="en-US" altLang="en-US" dirty="0">
                <a:solidFill>
                  <a:srgbClr val="415FFF"/>
                </a:solidFill>
              </a:rPr>
              <a:t> </a:t>
            </a:r>
            <a:endParaRPr lang="en-US" dirty="0">
              <a:solidFill>
                <a:srgbClr val="415FFF"/>
              </a:solidFill>
            </a:endParaRP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痛点一：传统地图</a:t>
            </a:r>
            <a:r>
              <a:rPr lang="en-US" altLang="zh-CN" dirty="0">
                <a:latin typeface="vivo  Sans"/>
                <a:ea typeface="vivo Sans" panose="02000500000000000000"/>
              </a:rPr>
              <a:t>APP</a:t>
            </a:r>
            <a:r>
              <a:rPr lang="zh-CN" altLang="en-US" dirty="0">
                <a:latin typeface="vivo  Sans"/>
                <a:ea typeface="vivo Sans" panose="02000500000000000000"/>
              </a:rPr>
              <a:t>（高德</a:t>
            </a:r>
            <a:r>
              <a:rPr lang="en-US" altLang="zh-CN" dirty="0">
                <a:latin typeface="vivo  Sans"/>
                <a:ea typeface="vivo Sans" panose="02000500000000000000"/>
              </a:rPr>
              <a:t>/</a:t>
            </a:r>
            <a:r>
              <a:rPr lang="zh-CN" altLang="en-US" dirty="0">
                <a:latin typeface="vivo  Sans"/>
                <a:ea typeface="vivo Sans" panose="02000500000000000000"/>
              </a:rPr>
              <a:t>百度）提供的是通用路线，完全不考虑孩子的体力差异、安全需求和兴趣偏好，亲子家庭只能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将就着用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。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痛点二：家长规划一次亲子出行，平均需要在地图、点评、攻略社区、天气、票务等</a:t>
            </a:r>
            <a:r>
              <a:rPr lang="en-US" altLang="zh-CN" dirty="0">
                <a:latin typeface="vivo  Sans"/>
                <a:ea typeface="vivo Sans" panose="02000500000000000000"/>
              </a:rPr>
              <a:t>5+</a:t>
            </a:r>
            <a:r>
              <a:rPr lang="zh-CN" altLang="en-US" dirty="0">
                <a:latin typeface="vivo  Sans"/>
                <a:ea typeface="vivo Sans" panose="02000500000000000000"/>
              </a:rPr>
              <a:t>个</a:t>
            </a:r>
            <a:r>
              <a:rPr lang="en-US" altLang="zh-CN" dirty="0">
                <a:latin typeface="vivo  Sans"/>
                <a:ea typeface="vivo Sans" panose="02000500000000000000"/>
              </a:rPr>
              <a:t>APP</a:t>
            </a:r>
            <a:r>
              <a:rPr lang="zh-CN" altLang="en-US" dirty="0">
                <a:latin typeface="vivo  Sans"/>
                <a:ea typeface="vivo Sans" panose="02000500000000000000"/>
              </a:rPr>
              <a:t>之间反复跳转，耗时</a:t>
            </a:r>
            <a:r>
              <a:rPr lang="en-US" altLang="zh-CN" dirty="0">
                <a:latin typeface="vivo  Sans"/>
                <a:ea typeface="vivo Sans" panose="02000500000000000000"/>
              </a:rPr>
              <a:t>2-3</a:t>
            </a:r>
            <a:r>
              <a:rPr lang="zh-CN" altLang="en-US" dirty="0">
                <a:latin typeface="vivo  Sans"/>
                <a:ea typeface="vivo Sans" panose="02000500000000000000"/>
              </a:rPr>
              <a:t>小时，信息极度碎片化。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痛点三：现有</a:t>
            </a:r>
            <a:r>
              <a:rPr lang="en-US" altLang="zh-CN" dirty="0">
                <a:latin typeface="vivo  Sans"/>
                <a:ea typeface="vivo Sans" panose="02000500000000000000"/>
              </a:rPr>
              <a:t>AI</a:t>
            </a:r>
            <a:r>
              <a:rPr lang="zh-CN" altLang="en-US" dirty="0">
                <a:latin typeface="vivo  Sans"/>
                <a:ea typeface="vivo Sans" panose="02000500000000000000"/>
              </a:rPr>
              <a:t>助手（</a:t>
            </a:r>
            <a:r>
              <a:rPr lang="en-US" altLang="zh-CN" dirty="0">
                <a:latin typeface="vivo  Sans"/>
                <a:ea typeface="vivo Sans" panose="02000500000000000000"/>
              </a:rPr>
              <a:t>ChatGPT/</a:t>
            </a:r>
            <a:r>
              <a:rPr lang="zh-CN" altLang="en-US" dirty="0">
                <a:latin typeface="vivo  Sans"/>
                <a:ea typeface="vivo Sans" panose="02000500000000000000"/>
              </a:rPr>
              <a:t>文心一言等）输出的是纯文字攻略，与真实地图路线完全脱节，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看了攻略也找不到路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。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核心洞察：亲子出行市场缺乏一个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懂孩子的体力、懂家长的烦恼、一站式闭环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的智能出行助手</a:t>
            </a:r>
            <a:endParaRPr lang="en-US" dirty="0">
              <a:latin typeface="vivo  Sans"/>
              <a:ea typeface="vivo Sans" panose="02000500000000000000"/>
            </a:endParaRPr>
          </a:p>
          <a:p>
            <a:endParaRPr lang="en-US" dirty="0">
              <a:solidFill>
                <a:srgbClr val="415FFF"/>
              </a:solidFill>
              <a:latin typeface="vivo Sans"/>
            </a:endParaRPr>
          </a:p>
          <a:p>
            <a:endParaRPr lang="en-US" dirty="0">
              <a:solidFill>
                <a:srgbClr val="415FFF"/>
              </a:solidFill>
              <a:latin typeface="vivo San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5AB89E-E9ED-4C9A-177F-CE1C8BB005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334265" y="29349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BA3486-B880-F868-4879-3DD45E4031B8}"/>
              </a:ext>
            </a:extLst>
          </p:cNvPr>
          <p:cNvSpPr/>
          <p:nvPr/>
        </p:nvSpPr>
        <p:spPr>
          <a:xfrm>
            <a:off x="6235700" y="17591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D681AF-5350-6560-A45C-95C115712B0E}"/>
              </a:ext>
            </a:extLst>
          </p:cNvPr>
          <p:cNvSpPr/>
          <p:nvPr/>
        </p:nvSpPr>
        <p:spPr>
          <a:xfrm>
            <a:off x="7731662" y="17591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F6E2CB-C799-15FB-FBFE-C4CB1E88BD65}"/>
              </a:ext>
            </a:extLst>
          </p:cNvPr>
          <p:cNvSpPr/>
          <p:nvPr/>
        </p:nvSpPr>
        <p:spPr>
          <a:xfrm>
            <a:off x="9227624" y="17591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030A42-F62F-E01E-5FD2-D548E726B2CD}"/>
              </a:ext>
            </a:extLst>
          </p:cNvPr>
          <p:cNvSpPr/>
          <p:nvPr/>
        </p:nvSpPr>
        <p:spPr>
          <a:xfrm>
            <a:off x="10723586" y="17591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92125F-CCE6-2485-816A-F4CC65EE87CD}"/>
              </a:ext>
            </a:extLst>
          </p:cNvPr>
          <p:cNvSpPr txBox="1"/>
          <p:nvPr/>
        </p:nvSpPr>
        <p:spPr>
          <a:xfrm>
            <a:off x="913063" y="1365002"/>
            <a:ext cx="1014285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理念贯穿性：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以孩子为中心</a:t>
            </a:r>
            <a:r>
              <a:rPr lang="en-US" altLang="zh-CN" dirty="0">
                <a:latin typeface="vivo  Sans"/>
                <a:ea typeface="vivo Sans" panose="02000500000000000000"/>
              </a:rPr>
              <a:t>"——</a:t>
            </a:r>
            <a:r>
              <a:rPr lang="zh-CN" altLang="en-US" dirty="0">
                <a:latin typeface="vivo  Sans"/>
                <a:ea typeface="vivo Sans" panose="02000500000000000000"/>
              </a:rPr>
              <a:t>内置儿童体力模型，按</a:t>
            </a:r>
            <a:r>
              <a:rPr lang="en-US" altLang="zh-CN" dirty="0">
                <a:latin typeface="vivo  Sans"/>
                <a:ea typeface="vivo Sans" panose="02000500000000000000"/>
              </a:rPr>
              <a:t>0-3</a:t>
            </a:r>
            <a:r>
              <a:rPr lang="zh-CN" altLang="en-US" dirty="0">
                <a:latin typeface="vivo  Sans"/>
                <a:ea typeface="vivo Sans" panose="02000500000000000000"/>
              </a:rPr>
              <a:t>岁</a:t>
            </a:r>
            <a:r>
              <a:rPr lang="en-US" altLang="zh-CN" dirty="0">
                <a:latin typeface="vivo  Sans"/>
                <a:ea typeface="vivo Sans" panose="02000500000000000000"/>
              </a:rPr>
              <a:t>/4-6</a:t>
            </a:r>
            <a:r>
              <a:rPr lang="zh-CN" altLang="en-US" dirty="0">
                <a:latin typeface="vivo  Sans"/>
                <a:ea typeface="vivo Sans" panose="02000500000000000000"/>
              </a:rPr>
              <a:t>岁</a:t>
            </a:r>
            <a:r>
              <a:rPr lang="en-US" altLang="zh-CN" dirty="0">
                <a:latin typeface="vivo  Sans"/>
                <a:ea typeface="vivo Sans" panose="02000500000000000000"/>
              </a:rPr>
              <a:t>/7-12</a:t>
            </a:r>
            <a:r>
              <a:rPr lang="zh-CN" altLang="en-US" dirty="0">
                <a:latin typeface="vivo  Sans"/>
                <a:ea typeface="vivo Sans" panose="02000500000000000000"/>
              </a:rPr>
              <a:t>岁分年龄段定制行程节奏、步行距离、项目强度和内容偏好。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对话即交互</a:t>
            </a:r>
            <a:r>
              <a:rPr lang="en-US" altLang="zh-CN" dirty="0">
                <a:latin typeface="vivo  Sans"/>
                <a:ea typeface="vivo Sans" panose="02000500000000000000"/>
              </a:rPr>
              <a:t>"——</a:t>
            </a:r>
            <a:r>
              <a:rPr lang="zh-CN" altLang="en-US" dirty="0">
                <a:latin typeface="vivo  Sans"/>
                <a:ea typeface="vivo Sans" panose="02000500000000000000"/>
              </a:rPr>
              <a:t>全程采用自然语言对话式交互，支持语音</a:t>
            </a:r>
            <a:r>
              <a:rPr lang="en-US" altLang="zh-CN" dirty="0">
                <a:latin typeface="vivo  Sans"/>
                <a:ea typeface="vivo Sans" panose="02000500000000000000"/>
              </a:rPr>
              <a:t>/</a:t>
            </a:r>
            <a:r>
              <a:rPr lang="zh-CN" altLang="en-US" dirty="0">
                <a:latin typeface="vivo  Sans"/>
                <a:ea typeface="vivo Sans" panose="02000500000000000000"/>
              </a:rPr>
              <a:t>文字输入，解放家长双手，出行前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一句话规划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、出行中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随问随改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。</a:t>
            </a: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一张图闭环</a:t>
            </a:r>
            <a:r>
              <a:rPr lang="en-US" altLang="zh-CN" dirty="0">
                <a:latin typeface="vivo  Sans"/>
                <a:ea typeface="vivo Sans" panose="02000500000000000000"/>
              </a:rPr>
              <a:t>"——</a:t>
            </a:r>
            <a:r>
              <a:rPr lang="zh-CN" altLang="en-US" dirty="0">
                <a:latin typeface="vivo  Sans"/>
                <a:ea typeface="vivo Sans" panose="02000500000000000000"/>
              </a:rPr>
              <a:t>所有功能（导航、信息查询、行程调整、分享导出）全部收敛到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童行地图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这一个核心界面上，降低认知负荷。</a:t>
            </a:r>
          </a:p>
          <a:p>
            <a:endParaRPr lang="en-US" dirty="0">
              <a:solidFill>
                <a:srgbClr val="415FFF"/>
              </a:solidFill>
              <a:latin typeface="vivo Sans"/>
            </a:endParaRPr>
          </a:p>
          <a:p>
            <a:endParaRPr lang="en-US" dirty="0">
              <a:solidFill>
                <a:srgbClr val="415FFF"/>
              </a:solidFill>
              <a:latin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193574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9941" y="1473977"/>
            <a:ext cx="10891518" cy="295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核心功能解读</a:t>
            </a:r>
            <a:r>
              <a:rPr dirty="0">
                <a:solidFill>
                  <a:srgbClr val="415FFF"/>
                </a:solidFill>
                <a:latin typeface="vivo Sans"/>
              </a:rPr>
              <a:t>：</a:t>
            </a:r>
            <a:r>
              <a:rPr lang="en-US" dirty="0">
                <a:solidFill>
                  <a:srgbClr val="415FFF"/>
                </a:solidFill>
                <a:latin typeface="vivo Sans"/>
              </a:rPr>
              <a:t> </a:t>
            </a:r>
            <a:r>
              <a:rPr dirty="0">
                <a:latin typeface="vivo  Sans"/>
                <a:ea typeface="vivo Sans" panose="02000500000000000000"/>
              </a:rPr>
              <a:t>「</a:t>
            </a:r>
            <a:r>
              <a:rPr dirty="0" err="1">
                <a:latin typeface="vivo  Sans"/>
                <a:ea typeface="vivo Sans" panose="02000500000000000000"/>
              </a:rPr>
              <a:t>与你童行」以"童行地图</a:t>
            </a:r>
            <a:r>
              <a:rPr dirty="0">
                <a:latin typeface="vivo  Sans"/>
                <a:ea typeface="vivo Sans" panose="02000500000000000000"/>
              </a:rPr>
              <a:t> + </a:t>
            </a:r>
            <a:r>
              <a:rPr dirty="0" err="1">
                <a:latin typeface="vivo  Sans"/>
                <a:ea typeface="vivo Sans" panose="02000500000000000000"/>
              </a:rPr>
              <a:t>童行规划</a:t>
            </a:r>
            <a:r>
              <a:rPr dirty="0">
                <a:latin typeface="vivo  Sans"/>
                <a:ea typeface="vivo Sans" panose="02000500000000000000"/>
              </a:rPr>
              <a:t> + </a:t>
            </a:r>
            <a:r>
              <a:rPr dirty="0" err="1">
                <a:latin typeface="vivo  Sans"/>
                <a:ea typeface="vivo Sans" panose="02000500000000000000"/>
              </a:rPr>
              <a:t>童行助手"三位一体为核心，覆盖亲子出行"智能规划→地图导航→随行调整→一键分享"全链路闭环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  <a:endParaRPr lang="en-US" altLang="zh-CN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</a:rPr>
              <a:t>作品的界面设计：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（1）整体视觉风格：采用温暖明快的卡通手绘风格，以柔和的暖色调（鹅黄、浅橙、天蓝）为主色系，营造安全、亲切、童趣的视觉氛围。所有卡片采用大圆角设计，降低视觉攻击性。</a:t>
            </a:r>
            <a:endParaRPr lang="en-US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（</a:t>
            </a:r>
            <a:r>
              <a:rPr lang="en-US" altLang="zh-CN" dirty="0">
                <a:latin typeface="vivo  Sans"/>
                <a:ea typeface="vivo Sans" panose="02000500000000000000"/>
              </a:rPr>
              <a:t>2</a:t>
            </a:r>
            <a:r>
              <a:rPr lang="zh-CN" altLang="en-US" dirty="0">
                <a:latin typeface="vivo  Sans"/>
                <a:ea typeface="vivo Sans" panose="02000500000000000000"/>
              </a:rPr>
              <a:t>）关键界面展示：见后页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vivo  Sans"/>
                <a:ea typeface="vivo Sans" panose="02000500000000000000"/>
              </a:rPr>
              <a:t>	</a:t>
            </a:r>
            <a:endParaRPr lang="en-US" dirty="0">
              <a:solidFill>
                <a:srgbClr val="415FFF"/>
              </a:solidFill>
              <a:latin typeface="vivo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409DE-B3E8-29C2-7DD5-879C3749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7877689C-21C8-3C96-9B8F-99D3CD9BED61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66F185-38C7-20CC-B25B-27C555658D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6C57E9-4243-60D3-4E23-F05759796B82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290C28-FAC2-EF4F-501D-FBBC6711BC3F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951BA9-F25E-15D6-0C98-7F19BB5E2CCE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60179B-C5BD-7166-A821-F891EDE5CCDB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8AEEC2-25C0-AA9B-528A-A583AF161BE0}"/>
              </a:ext>
            </a:extLst>
          </p:cNvPr>
          <p:cNvSpPr txBox="1"/>
          <p:nvPr/>
        </p:nvSpPr>
        <p:spPr>
          <a:xfrm>
            <a:off x="789941" y="1473977"/>
            <a:ext cx="4973861" cy="33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>
                <a:solidFill>
                  <a:srgbClr val="415FFF"/>
                </a:solidFill>
                <a:ea typeface="vivo Sans" panose="02000500000000000000"/>
              </a:rPr>
              <a:t>（2）关键界面展示：</a:t>
            </a:r>
            <a:endParaRPr lang="en-US" dirty="0">
              <a:solidFill>
                <a:srgbClr val="415FFF"/>
              </a:solidFill>
              <a:ea typeface="vivo Sans" panose="0200050000000000000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vivo  Sans"/>
                <a:ea typeface="vivo Sans" panose="02000500000000000000"/>
              </a:rPr>
              <a:t>	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 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/>
              </a:rPr>
              <a:t>1. 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主页 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/>
              </a:rPr>
              <a:t>– 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一句话规划入口</a:t>
            </a:r>
            <a:br>
              <a:rPr lang="zh-CN" altLang="en-US" dirty="0"/>
            </a:br>
            <a:r>
              <a:rPr lang="zh-CN" altLang="en-US" dirty="0"/>
              <a:t>亲子出行规划的智能起点。顶部卡通小熊引导语音输入，中央大卡片支持「说句话规划行程」或文字输入。底部横向展示最近生成的行程缩略图（如“金石滩一日游”），一键复用或二次编辑。整体采用浅杏色与手绘图标，温馨轻快。</a:t>
            </a:r>
            <a:endParaRPr dirty="0">
              <a:solidFill>
                <a:srgbClr val="415FFF"/>
              </a:solidFill>
              <a:latin typeface="vivo San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4FB8F9-EFB0-2691-BD98-EC98DBD30E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1" y="545726"/>
            <a:ext cx="3647327" cy="63151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4673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6E5D-64BD-83C5-0AAA-ABA85251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AC61446C-48FB-F8B9-64A5-9AB56C8439EF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E98EB2-B099-E8C4-A1CE-214871B54A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755063-8A19-AE3A-6816-95EB79AB413F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0C7409-E8D8-8352-1971-CCA83E6C5DD2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909804-36A6-A9A2-107F-6C8D373AB072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788CD0-56D5-A72D-7300-FAE3D7739E11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0D4625-A708-9BCA-0FAD-612A0D5D87C3}"/>
              </a:ext>
            </a:extLst>
          </p:cNvPr>
          <p:cNvSpPr txBox="1"/>
          <p:nvPr/>
        </p:nvSpPr>
        <p:spPr>
          <a:xfrm>
            <a:off x="789941" y="1473977"/>
            <a:ext cx="4973861" cy="5034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>
                <a:solidFill>
                  <a:srgbClr val="415FFF"/>
                </a:solidFill>
                <a:ea typeface="vivo Sans" panose="02000500000000000000"/>
              </a:rPr>
              <a:t>（2）关键界面展示：</a:t>
            </a:r>
            <a:endParaRPr lang="en-US" dirty="0">
              <a:solidFill>
                <a:srgbClr val="415FFF"/>
              </a:solidFill>
              <a:ea typeface="vivo Sans" panose="0200050000000000000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vivo  Sans"/>
                <a:ea typeface="vivo Sans" panose="02000500000000000000"/>
              </a:rPr>
              <a:t>	</a:t>
            </a:r>
            <a:r>
              <a:rPr lang="zh-CN" altLang="en-US" b="1" dirty="0"/>
              <a:t> 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/>
              </a:rPr>
              <a:t>2. 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童行地图 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/>
              </a:rPr>
              <a:t>– 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互动路线页</a:t>
            </a:r>
            <a:br>
              <a:rPr lang="zh-CN" altLang="en-US" dirty="0"/>
            </a:br>
            <a:r>
              <a:rPr lang="zh-CN" altLang="en-US" dirty="0"/>
              <a:t>核心行程可视化与交互工具。上半部分为手绘风格亲子地图，以小脚印虚线串联游乐场、餐厅、博物馆等节点。</a:t>
            </a:r>
            <a:r>
              <a:rPr lang="zh-CN" altLang="en-US" b="1" dirty="0"/>
              <a:t>地图上的每一个节点（景点</a:t>
            </a:r>
            <a:r>
              <a:rPr lang="en-US" altLang="zh-CN" b="1" dirty="0"/>
              <a:t>/</a:t>
            </a:r>
            <a:r>
              <a:rPr lang="zh-CN" altLang="en-US" b="1" dirty="0"/>
              <a:t>餐厅</a:t>
            </a:r>
            <a:r>
              <a:rPr lang="en-US" altLang="zh-CN" b="1" dirty="0"/>
              <a:t>/</a:t>
            </a:r>
            <a:r>
              <a:rPr lang="zh-CN" altLang="en-US" b="1" dirty="0"/>
              <a:t>场馆）均支持点击</a:t>
            </a:r>
            <a:r>
              <a:rPr lang="zh-CN" altLang="en-US" dirty="0"/>
              <a:t>，点击后弹出信息卡片，可查看该地点的详细介绍，包括：亲子设施（母婴室、童车租赁）、推荐停留时长、用户评分、以及适合年龄段。下半部分白色卡片展示动态时间轴，按上</a:t>
            </a:r>
            <a:r>
              <a:rPr lang="en-US" altLang="zh-CN" dirty="0"/>
              <a:t>/</a:t>
            </a:r>
            <a:r>
              <a:rPr lang="zh-CN" altLang="en-US" dirty="0"/>
              <a:t>中</a:t>
            </a:r>
            <a:r>
              <a:rPr lang="en-US" altLang="zh-CN" dirty="0"/>
              <a:t>/</a:t>
            </a:r>
            <a:r>
              <a:rPr lang="zh-CN" altLang="en-US" dirty="0"/>
              <a:t>下午分段显示活动详情、体力消耗及配套设施。底部可切换「标准</a:t>
            </a:r>
            <a:r>
              <a:rPr lang="en-US" altLang="zh-CN" dirty="0"/>
              <a:t>/</a:t>
            </a:r>
            <a:r>
              <a:rPr lang="zh-CN" altLang="en-US" dirty="0"/>
              <a:t>悠闲</a:t>
            </a:r>
            <a:r>
              <a:rPr lang="en-US" altLang="zh-CN" dirty="0"/>
              <a:t>/</a:t>
            </a:r>
            <a:r>
              <a:rPr lang="zh-CN" altLang="en-US" dirty="0"/>
              <a:t>紧凑」模式，并一键分享行程。</a:t>
            </a:r>
            <a:endParaRPr dirty="0">
              <a:solidFill>
                <a:srgbClr val="415FFF"/>
              </a:solidFill>
              <a:latin typeface="vivo San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C3C66C-490F-B3F9-32F6-A80FF5B6B8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73" y="638252"/>
            <a:ext cx="3486384" cy="61947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8272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E381-AC07-FF04-EF69-A60AAE18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30398C24-9CCB-BED7-377E-7F72C70DA204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94BD95-155C-CAAD-3D9B-2CE305D7798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6E22AC-3CA8-2141-BE5E-ECBBC846B61F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B992E-480A-0079-4A6B-7C9AD5A6795B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467F8A-AF9C-14EB-4378-D523D0CB6A64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1F03A0-8371-0EDC-6B4A-94D57AE7C20A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17B119-4DB4-85E7-75C8-FAF36A69E818}"/>
              </a:ext>
            </a:extLst>
          </p:cNvPr>
          <p:cNvSpPr txBox="1"/>
          <p:nvPr/>
        </p:nvSpPr>
        <p:spPr>
          <a:xfrm>
            <a:off x="746491" y="875034"/>
            <a:ext cx="10891518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415FFF"/>
                </a:solidFill>
              </a:rPr>
              <a:t>作品的交互设计：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vivo  Sans"/>
                <a:ea typeface="vivo Sans" panose="02000500000000000000"/>
              </a:rPr>
              <a:t>	</a:t>
            </a:r>
            <a:endParaRPr lang="en-US" dirty="0">
              <a:solidFill>
                <a:srgbClr val="415FFF"/>
              </a:solidFill>
              <a:latin typeface="vivo San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D1D96F6-DDA1-4A59-8320-6E3372772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50" y="1473200"/>
            <a:ext cx="3010891" cy="52180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E0D1492-0EAB-B1C6-7ACF-F90584CD69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1961" y="2566255"/>
            <a:ext cx="3927777" cy="30319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D880B8F-26CA-840B-5E56-133134C2C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1658" y="1275131"/>
            <a:ext cx="3186866" cy="5281935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D26C8D4-20B3-9034-B162-C43A23316904}"/>
              </a:ext>
            </a:extLst>
          </p:cNvPr>
          <p:cNvCxnSpPr/>
          <p:nvPr/>
        </p:nvCxnSpPr>
        <p:spPr>
          <a:xfrm>
            <a:off x="2095500" y="6691278"/>
            <a:ext cx="1885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2F694C8-F597-6B93-7285-522C3B1FE597}"/>
              </a:ext>
            </a:extLst>
          </p:cNvPr>
          <p:cNvCxnSpPr/>
          <p:nvPr/>
        </p:nvCxnSpPr>
        <p:spPr>
          <a:xfrm flipV="1">
            <a:off x="3981450" y="1727200"/>
            <a:ext cx="0" cy="4964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B6CB48A4-BAB0-81ED-4EC2-9FF7CA2C55D2}"/>
              </a:ext>
            </a:extLst>
          </p:cNvPr>
          <p:cNvCxnSpPr>
            <a:endCxn id="14" idx="0"/>
          </p:cNvCxnSpPr>
          <p:nvPr/>
        </p:nvCxnSpPr>
        <p:spPr>
          <a:xfrm>
            <a:off x="3981450" y="1727200"/>
            <a:ext cx="2184400" cy="839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B139A784-4513-8F12-55D2-FDDA555C260E}"/>
              </a:ext>
            </a:extLst>
          </p:cNvPr>
          <p:cNvCxnSpPr>
            <a:endCxn id="18" idx="0"/>
          </p:cNvCxnSpPr>
          <p:nvPr/>
        </p:nvCxnSpPr>
        <p:spPr>
          <a:xfrm>
            <a:off x="8343900" y="971550"/>
            <a:ext cx="1791191" cy="3035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38B428E-D7CE-7B06-6057-00A421B36FE2}"/>
              </a:ext>
            </a:extLst>
          </p:cNvPr>
          <p:cNvCxnSpPr/>
          <p:nvPr/>
        </p:nvCxnSpPr>
        <p:spPr>
          <a:xfrm>
            <a:off x="8343900" y="971550"/>
            <a:ext cx="0" cy="520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C0CE88BA-F827-5D00-24A6-79A1C2EDD6B5}"/>
              </a:ext>
            </a:extLst>
          </p:cNvPr>
          <p:cNvCxnSpPr>
            <a:endCxn id="14" idx="2"/>
          </p:cNvCxnSpPr>
          <p:nvPr/>
        </p:nvCxnSpPr>
        <p:spPr>
          <a:xfrm rot="10800000">
            <a:off x="6165850" y="5598224"/>
            <a:ext cx="2133600" cy="5803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1679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D17D-77D1-FD1D-0E42-A2231B75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7B842D83-BC0A-8F84-3380-DC61147247E7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65D211-FEFD-0814-112E-8A25774674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005030-9522-B891-3D3A-C12D5F0E6805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673E78-3C5A-C16E-558D-059F680248D7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194C9F-A77F-00EB-6103-2EFBF86A1996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6DC1C9-0850-6713-93B9-78915815D032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3EDE93-587E-19C2-CF93-5D784A7C3E57}"/>
              </a:ext>
            </a:extLst>
          </p:cNvPr>
          <p:cNvSpPr txBox="1"/>
          <p:nvPr/>
        </p:nvSpPr>
        <p:spPr>
          <a:xfrm>
            <a:off x="566275" y="997727"/>
            <a:ext cx="10891518" cy="254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（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/>
              </a:rPr>
              <a:t>2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）交互设计中的创新之处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ivo  Sans"/>
                <a:ea typeface="vivo Sans" panose="02000500000000000000"/>
              </a:rPr>
              <a:t>创新点一：亲子友好的“语音</a:t>
            </a:r>
            <a:r>
              <a:rPr lang="en-US" altLang="zh-CN" dirty="0">
                <a:latin typeface="vivo  Sans"/>
                <a:ea typeface="vivo Sans" panose="02000500000000000000"/>
              </a:rPr>
              <a:t>+</a:t>
            </a:r>
            <a:r>
              <a:rPr lang="zh-CN" altLang="en-US" dirty="0">
                <a:latin typeface="vivo  Sans"/>
                <a:ea typeface="vivo Sans" panose="02000500000000000000"/>
              </a:rPr>
              <a:t>多模态”行程生成：</a:t>
            </a:r>
            <a:endParaRPr lang="en-US" altLang="zh-CN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ivo  Sans"/>
                <a:ea typeface="vivo Sans" panose="02000500000000000000"/>
              </a:rPr>
              <a:t>创新点二：地图节点“点信息</a:t>
            </a:r>
            <a:r>
              <a:rPr lang="en-US" altLang="zh-CN" dirty="0">
                <a:latin typeface="vivo  Sans"/>
                <a:ea typeface="vivo Sans" panose="02000500000000000000"/>
              </a:rPr>
              <a:t>-</a:t>
            </a:r>
            <a:r>
              <a:rPr lang="zh-CN" altLang="en-US" dirty="0">
                <a:latin typeface="vivo  Sans"/>
                <a:ea typeface="vivo Sans" panose="02000500000000000000"/>
              </a:rPr>
              <a:t>换地点</a:t>
            </a:r>
            <a:r>
              <a:rPr lang="en-US" altLang="zh-CN" dirty="0">
                <a:latin typeface="vivo  Sans"/>
                <a:ea typeface="vivo Sans" panose="02000500000000000000"/>
              </a:rPr>
              <a:t>-</a:t>
            </a:r>
            <a:r>
              <a:rPr lang="zh-CN" altLang="en-US" dirty="0">
                <a:latin typeface="vivo  Sans"/>
                <a:ea typeface="vivo Sans" panose="02000500000000000000"/>
              </a:rPr>
              <a:t>拖排序”一体化编辑</a:t>
            </a:r>
            <a:endParaRPr lang="en-US" altLang="zh-CN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ivo  Sans"/>
                <a:ea typeface="vivo Sans" panose="02000500000000000000"/>
              </a:rPr>
              <a:t>创新点三：节奏一键切换（紧凑</a:t>
            </a:r>
            <a:r>
              <a:rPr lang="en-US" altLang="zh-CN" dirty="0">
                <a:latin typeface="vivo  Sans"/>
                <a:ea typeface="vivo Sans" panose="02000500000000000000"/>
              </a:rPr>
              <a:t>/</a:t>
            </a:r>
            <a:r>
              <a:rPr lang="zh-CN" altLang="en-US" dirty="0">
                <a:latin typeface="vivo  Sans"/>
                <a:ea typeface="vivo Sans" panose="02000500000000000000"/>
              </a:rPr>
              <a:t>标准</a:t>
            </a:r>
            <a:r>
              <a:rPr lang="en-US" altLang="zh-CN" dirty="0">
                <a:latin typeface="vivo  Sans"/>
                <a:ea typeface="vivo Sans" panose="02000500000000000000"/>
              </a:rPr>
              <a:t>/</a:t>
            </a:r>
            <a:r>
              <a:rPr lang="zh-CN" altLang="en-US" dirty="0">
                <a:latin typeface="vivo  Sans"/>
                <a:ea typeface="vivo Sans" panose="02000500000000000000"/>
              </a:rPr>
              <a:t>悠闲）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982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3208-1306-0363-A935-8423809C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9358967A-6AA7-B8D5-CCCF-7441C8D770D3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BAB433-75A5-DEF7-4729-4CF7F9399E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5F2FF6-C121-3BF7-4404-8FDC30E62910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88F959-52C5-5670-5482-AB8BE6CD750E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25E8A2-B121-F1EB-B899-2703488A9B42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BAD816-3E4D-47D7-33A5-E76027C2DDD0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72399B-4B13-7521-0B2B-1C163BD86643}"/>
              </a:ext>
            </a:extLst>
          </p:cNvPr>
          <p:cNvSpPr txBox="1"/>
          <p:nvPr/>
        </p:nvSpPr>
        <p:spPr>
          <a:xfrm>
            <a:off x="650241" y="1396713"/>
            <a:ext cx="10891518" cy="406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/>
              </a:rPr>
              <a:t>大模型的具体应用说明：</a:t>
            </a:r>
            <a:endParaRPr lang="en-US" altLang="zh-CN"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dirty="0">
              <a:solidFill>
                <a:srgbClr val="415FFF"/>
              </a:solidFill>
              <a:latin typeface="vivo Sans"/>
            </a:endParaRPr>
          </a:p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使用大语言模型</a:t>
            </a:r>
            <a:r>
              <a:rPr dirty="0">
                <a:latin typeface="vivo  Sans"/>
                <a:ea typeface="vivo Sans" panose="02000500000000000000"/>
              </a:rPr>
              <a:t>（</a:t>
            </a:r>
            <a:r>
              <a:rPr lang="zh-CN" altLang="en-US" dirty="0">
                <a:latin typeface="vivo  Sans"/>
                <a:ea typeface="vivo Sans" panose="02000500000000000000"/>
              </a:rPr>
              <a:t>如</a:t>
            </a:r>
            <a:r>
              <a:rPr dirty="0" err="1">
                <a:latin typeface="vivo  Sans"/>
                <a:ea typeface="vivo Sans" panose="02000500000000000000"/>
              </a:rPr>
              <a:t>vivo蓝心大模型）进行自然语言理解、意图识别与行程内容生成</a:t>
            </a:r>
            <a:r>
              <a:rPr dirty="0">
                <a:latin typeface="vivo  Sans"/>
                <a:ea typeface="vivo Sans" panose="02000500000000000000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通过精心设计的Prompt</a:t>
            </a:r>
            <a:r>
              <a:rPr dirty="0">
                <a:latin typeface="vivo  Sans"/>
                <a:ea typeface="vivo Sans" panose="02000500000000000000"/>
              </a:rPr>
              <a:t> </a:t>
            </a:r>
            <a:r>
              <a:rPr dirty="0" err="1">
                <a:latin typeface="vivo  Sans"/>
                <a:ea typeface="vivo Sans" panose="02000500000000000000"/>
              </a:rPr>
              <a:t>Engineering，注入三套分年龄规划规则引擎和安全约束条件，确保内容的适龄性、安全性和可执行性</a:t>
            </a:r>
            <a:r>
              <a:rPr dirty="0">
                <a:latin typeface="vivo  Sans"/>
                <a:ea typeface="vivo Sans" panose="02000500000000000000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 </a:t>
            </a:r>
            <a:r>
              <a:rPr dirty="0" err="1">
                <a:latin typeface="vivo  Sans"/>
                <a:ea typeface="vivo Sans" panose="02000500000000000000"/>
              </a:rPr>
              <a:t>结合地理位置API、天气API与LLM的结构化输出，自动生成包含路线、节点、时长的完整数据，驱动前端地图渲染</a:t>
            </a:r>
            <a:r>
              <a:rPr dirty="0">
                <a:latin typeface="vivo  Sans"/>
                <a:ea typeface="vivo Sans" panose="02000500000000000000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多轮对话上下文管理模块，支持出行前规划+出行中追问的持续对话，智能体始终感知当前行程状态并精准响应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229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5E96-1C00-940A-1C34-57C5311E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595D8875-C298-33AF-3B70-5678F0DD3D12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D26C2E-D45C-943E-4C52-5801104683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DBF1D9-9EBE-8126-26B4-FE4F1825D35C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CAD147-BF9A-BB98-B210-97C833246482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F9FD2D-0FC2-061F-320D-4AAF2E91F4BD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CA6EE2-F662-11C6-F1D0-FFC74287B420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6B07A6-E4C1-2735-74A0-9125E15F53D5}"/>
              </a:ext>
            </a:extLst>
          </p:cNvPr>
          <p:cNvSpPr txBox="1"/>
          <p:nvPr/>
        </p:nvSpPr>
        <p:spPr>
          <a:xfrm>
            <a:off x="962030" y="1325675"/>
            <a:ext cx="1014285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  <a:latin typeface="vivo Sans"/>
              </a:rPr>
              <a:t>创新点一：AI生成式亲子专属互动路线图（童行地图</a:t>
            </a:r>
            <a:r>
              <a:rPr dirty="0">
                <a:solidFill>
                  <a:srgbClr val="415FFF"/>
                </a:solidFill>
                <a:latin typeface="vivo Sans"/>
              </a:rPr>
              <a:t>）</a:t>
            </a:r>
            <a:endParaRPr lang="en-US"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dirty="0">
              <a:solidFill>
                <a:srgbClr val="FF0000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突破传统地图范式：不再是冰冷的蓝色折线，而是卡通手绘风格、带节点标注和互动能力的"</a:t>
            </a:r>
            <a:r>
              <a:rPr dirty="0" err="1">
                <a:latin typeface="vivo  Sans"/>
                <a:ea typeface="vivo Sans" panose="02000500000000000000"/>
              </a:rPr>
              <a:t>活地图</a:t>
            </a:r>
            <a:r>
              <a:rPr dirty="0">
                <a:latin typeface="vivo  Sans"/>
                <a:ea typeface="vivo Sans" panose="02000500000000000000"/>
              </a:rPr>
              <a:t>"，</a:t>
            </a:r>
            <a:r>
              <a:rPr dirty="0" err="1">
                <a:latin typeface="vivo  Sans"/>
                <a:ea typeface="vivo Sans" panose="02000500000000000000"/>
              </a:rPr>
              <a:t>重新定义了出行地图的用户体验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节点即服务（Node-as-a-Service</a:t>
            </a:r>
            <a:r>
              <a:rPr dirty="0">
                <a:latin typeface="vivo  Sans"/>
                <a:ea typeface="vivo Sans" panose="02000500000000000000"/>
              </a:rPr>
              <a:t>）：每个亲子节点都可点击交互，弹出专属信息卡片，集成导航跳转、周边设施、票务政策、真实评价、删除节点、调整时长6大功能，将地图从"看"升级为"用"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多模式一键切换：支持"标准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悠闲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紧凑"三种出行节奏，一键切换后路线顺序、游玩时长、步行距离自动重算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vivo  Sans"/>
                <a:ea typeface="vivo Sans" panose="02000500000000000000"/>
              </a:rPr>
              <a:t>图文实时联动：对话修改行程时文字与地图同步刷新，首创性地解决出行产品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图文脱节</a:t>
            </a:r>
            <a:r>
              <a:rPr lang="en-US" altLang="zh-CN" dirty="0">
                <a:latin typeface="vivo  Sans"/>
                <a:ea typeface="vivo Sans" panose="02000500000000000000"/>
              </a:rPr>
              <a:t>"</a:t>
            </a:r>
            <a:r>
              <a:rPr lang="zh-CN" altLang="en-US" dirty="0">
                <a:latin typeface="vivo  Sans"/>
                <a:ea typeface="vivo Sans" panose="02000500000000000000"/>
              </a:rPr>
              <a:t>痛点。</a:t>
            </a:r>
          </a:p>
          <a:p>
            <a:endParaRPr dirty="0"/>
          </a:p>
          <a:p>
            <a:endParaRPr dirty="0">
              <a:solidFill>
                <a:srgbClr val="415FFF"/>
              </a:solidFill>
              <a:latin typeface="vivo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328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7869-0D07-B4DE-5665-27835D59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28D1F525-802C-6FFA-BE75-70BDB3DF5D31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02504C-A64D-EDD5-075F-F260E16B04F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E960A-1198-0F4E-65BD-B93A87D58F48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A0029C-2313-90D7-0EED-968F3AE51E62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7D253F-FFE0-3F92-052D-3CFA8E6390DA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0B3726-316D-91B8-C83F-29384ED35E9A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8DEC7E-B9AD-9230-B575-A24EBF9E2FEC}"/>
              </a:ext>
            </a:extLst>
          </p:cNvPr>
          <p:cNvSpPr txBox="1"/>
          <p:nvPr/>
        </p:nvSpPr>
        <p:spPr>
          <a:xfrm>
            <a:off x="972975" y="1055331"/>
            <a:ext cx="10142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创新点二：分年龄分层智能规划引擎</a:t>
            </a:r>
            <a:endParaRPr lang="en-US" dirty="0">
              <a:solidFill>
                <a:srgbClr val="415FF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dirty="0">
              <a:solidFill>
                <a:srgbClr val="415FF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内置三套专属亲子规则引擎（0-3岁/4-6岁/7-12岁），彻底区别于通用AI的"</a:t>
            </a:r>
            <a:r>
              <a:rPr dirty="0" err="1">
                <a:latin typeface="vivo  Sans"/>
                <a:ea typeface="vivo Sans" panose="02000500000000000000"/>
              </a:rPr>
              <a:t>成人思维</a:t>
            </a:r>
            <a:r>
              <a:rPr dirty="0">
                <a:latin typeface="vivo  Sans"/>
                <a:ea typeface="vivo Sans" panose="02000500000000000000"/>
              </a:rPr>
              <a:t>"，</a:t>
            </a:r>
            <a:r>
              <a:rPr dirty="0" err="1">
                <a:latin typeface="vivo  Sans"/>
                <a:ea typeface="vivo Sans" panose="02000500000000000000"/>
              </a:rPr>
              <a:t>从体力、安全、兴趣三维度精准定制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自动控制每日游玩时长上限（4h/6h/</a:t>
            </a:r>
            <a:r>
              <a:rPr dirty="0" err="1">
                <a:latin typeface="vivo  Sans"/>
                <a:ea typeface="vivo Sans" panose="02000500000000000000"/>
              </a:rPr>
              <a:t>弹性</a:t>
            </a:r>
            <a:r>
              <a:rPr dirty="0">
                <a:latin typeface="vivo  Sans"/>
                <a:ea typeface="vivo Sans" panose="02000500000000000000"/>
              </a:rPr>
              <a:t>）、</a:t>
            </a:r>
            <a:r>
              <a:rPr dirty="0" err="1">
                <a:latin typeface="vivo  Sans"/>
                <a:ea typeface="vivo Sans" panose="02000500000000000000"/>
              </a:rPr>
              <a:t>强制预留午休时间（低龄模式</a:t>
            </a:r>
            <a:r>
              <a:rPr dirty="0">
                <a:latin typeface="vivo  Sans"/>
                <a:ea typeface="vivo Sans" panose="02000500000000000000"/>
              </a:rPr>
              <a:t>）、</a:t>
            </a:r>
            <a:r>
              <a:rPr dirty="0" err="1">
                <a:latin typeface="vivo  Sans"/>
                <a:ea typeface="vivo Sans" panose="02000500000000000000"/>
              </a:rPr>
              <a:t>优先室内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低人流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有母婴室的场所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智能化串联亲子刚需设施：自动在景点间插入距离≤200米的母婴室、儿童饮水处、亲子卫生间，完全不用手动搜索。</a:t>
            </a:r>
          </a:p>
          <a:p>
            <a:endParaRPr dirty="0">
              <a:solidFill>
                <a:srgbClr val="415FFF"/>
              </a:solidFill>
              <a:latin typeface="vivo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610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62030" y="920159"/>
            <a:ext cx="10142850" cy="516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创新点三：自然语言对话式全程交互（童行助手</a:t>
            </a:r>
            <a:r>
              <a:rPr dirty="0">
                <a:solidFill>
                  <a:srgbClr val="415FFF"/>
                </a:solidFill>
              </a:rPr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 </a:t>
            </a:r>
            <a:r>
              <a:rPr dirty="0" err="1">
                <a:latin typeface="vivo  Sans"/>
                <a:ea typeface="vivo Sans" panose="02000500000000000000"/>
              </a:rPr>
              <a:t>从"填表式搜索"到"对话式规划"的交互范式升级：用户无需填写表单，一句自然语言即可生成完整行程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出行中实时语音随行调整：支持途中随时提问</a:t>
            </a:r>
            <a:r>
              <a:rPr dirty="0">
                <a:latin typeface="vivo  Sans"/>
                <a:ea typeface="vivo Sans" panose="02000500000000000000"/>
              </a:rPr>
              <a:t>（"</a:t>
            </a:r>
            <a:r>
              <a:rPr dirty="0" err="1">
                <a:latin typeface="vivo  Sans"/>
                <a:ea typeface="vivo Sans" panose="02000500000000000000"/>
              </a:rPr>
              <a:t>附近有母婴室吗</a:t>
            </a:r>
            <a:r>
              <a:rPr dirty="0">
                <a:latin typeface="vivo  Sans"/>
                <a:ea typeface="vivo Sans" panose="02000500000000000000"/>
              </a:rPr>
              <a:t>""</a:t>
            </a:r>
            <a:r>
              <a:rPr dirty="0" err="1">
                <a:latin typeface="vivo  Sans"/>
                <a:ea typeface="vivo Sans" panose="02000500000000000000"/>
              </a:rPr>
              <a:t>下雨了换个室内景点</a:t>
            </a:r>
            <a:r>
              <a:rPr dirty="0">
                <a:latin typeface="vivo  Sans"/>
                <a:ea typeface="vivo Sans" panose="02000500000000000000"/>
              </a:rPr>
              <a:t>"），AI在10秒内更新行程和路线图。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多轮对话上下文记忆：追问无需重复背景信息，智能体始终感知当前对话的行程上下文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创新点四：天气自适应双预案系统</a:t>
            </a:r>
            <a:endParaRPr dirty="0">
              <a:solidFill>
                <a:srgbClr val="415FFF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出行前自动抓取目的地天气预报，智能判断天气类型，晴天户外方案、雨天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高温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严寒室内备选方案同时生成并排展示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路线图上用天气图标标注预警信息，支持一键在晴雨两套方案间切换，亲子出行不再"看天吃饭</a:t>
            </a:r>
            <a:r>
              <a:rPr dirty="0">
                <a:latin typeface="vivo  Sans"/>
                <a:ea typeface="vivo Sans" panose="02000500000000000000"/>
              </a:rPr>
              <a:t>"。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29010" y="1234488"/>
            <a:ext cx="10142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  <a:latin typeface="vivo Sans"/>
              </a:rPr>
              <a:t>用户需求程度</a:t>
            </a:r>
            <a:endParaRPr lang="en-US" dirty="0">
              <a:latin typeface="vivo Sans"/>
              <a:ea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solidFill>
                  <a:srgbClr val="415FFF"/>
                </a:solidFill>
              </a:rPr>
              <a:t>（1）目标用户画像：</a:t>
            </a:r>
            <a:r>
              <a:rPr dirty="0">
                <a:latin typeface="vivo  Sans"/>
                <a:ea typeface="vivo Sans" panose="02000500000000000000"/>
              </a:rPr>
              <a:t>核心用户为25-40岁、有3-12岁孩子的一二线城市父母。时间碎片化、对出行品质有要求、关注孩子体验与安全。场景覆盖周末遛娃、小长假短途游、寒暑假亲子旅行、城市公园/</a:t>
            </a:r>
            <a:r>
              <a:rPr dirty="0" err="1">
                <a:latin typeface="vivo  Sans"/>
                <a:ea typeface="vivo Sans" panose="02000500000000000000"/>
              </a:rPr>
              <a:t>博物馆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主题乐园一日游等高频场景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  <a:endParaRPr lang="en-US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solidFill>
                  <a:srgbClr val="415FFF"/>
                </a:solidFill>
              </a:rPr>
              <a:t>（2）核心痛点与需求分析：</a:t>
            </a:r>
            <a:endParaRPr lang="en-US" altLang="zh-CN" dirty="0">
              <a:solidFill>
                <a:srgbClr val="415FF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>
                <a:latin typeface="vivo  Sans"/>
                <a:ea typeface="vivo Sans" panose="02000500000000000000"/>
              </a:rPr>
              <a:t>痛点一（通用化</a:t>
            </a:r>
            <a:r>
              <a:rPr dirty="0">
                <a:latin typeface="vivo  Sans"/>
                <a:ea typeface="vivo Sans" panose="02000500000000000000"/>
              </a:rPr>
              <a:t>）：</a:t>
            </a:r>
            <a:r>
              <a:rPr dirty="0" err="1">
                <a:latin typeface="vivo  Sans"/>
                <a:ea typeface="vivo Sans" panose="02000500000000000000"/>
              </a:rPr>
              <a:t>传统地图APP不区分</a:t>
            </a:r>
            <a:r>
              <a:rPr lang="zh-CN" altLang="en-US" dirty="0">
                <a:latin typeface="vivo  Sans"/>
                <a:ea typeface="vivo Sans" panose="02000500000000000000"/>
              </a:rPr>
              <a:t>亲</a:t>
            </a:r>
            <a:r>
              <a:rPr dirty="0" err="1">
                <a:latin typeface="vivo  Sans"/>
                <a:ea typeface="vivo Sans" panose="02000500000000000000"/>
              </a:rPr>
              <a:t>子场景，路线推荐、POI排序基于成人标准，无法满足差异化需求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>
                <a:latin typeface="vivo  Sans"/>
                <a:ea typeface="vivo Sans" panose="02000500000000000000"/>
              </a:rPr>
              <a:t>痛点二（碎片化</a:t>
            </a:r>
            <a:r>
              <a:rPr dirty="0">
                <a:latin typeface="vivo  Sans"/>
                <a:ea typeface="vivo Sans" panose="02000500000000000000"/>
              </a:rPr>
              <a:t>）：家长规划一次亲子出行平均在5+个APP间跳转，耗时2-3小时。</a:t>
            </a:r>
            <a:endParaRPr lang="en-US" altLang="zh-CN" dirty="0">
              <a:latin typeface="vivo  Sans"/>
              <a:ea typeface="vivo Sans" panose="0200050000000000000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>
                <a:latin typeface="vivo  Sans"/>
                <a:ea typeface="vivo Sans" panose="02000500000000000000"/>
              </a:rPr>
              <a:t>痛点三（不可控</a:t>
            </a:r>
            <a:r>
              <a:rPr dirty="0">
                <a:latin typeface="vivo  Sans"/>
                <a:ea typeface="vivo Sans" panose="02000500000000000000"/>
              </a:rPr>
              <a:t>）：</a:t>
            </a:r>
            <a:r>
              <a:rPr dirty="0" err="1">
                <a:latin typeface="vivo  Sans"/>
                <a:ea typeface="vivo Sans" panose="02000500000000000000"/>
              </a:rPr>
              <a:t>出行中突发情况（天气变化、孩子疲劳、找母婴室）无法实时调整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vivo  Sans"/>
                <a:ea typeface="vivo Sans" panose="02000500000000000000"/>
              </a:rPr>
              <a:t>需求强度：遛娃是每周末刚需，频次高（每周1-2次），</a:t>
            </a:r>
            <a:r>
              <a:rPr dirty="0" err="1">
                <a:latin typeface="vivo  Sans"/>
                <a:ea typeface="vivo Sans" panose="02000500000000000000"/>
              </a:rPr>
              <a:t>付费意愿强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E0E0-1F40-E0F5-3B26-6E280552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FEB248BF-1FD4-704B-D9FE-78D1061B1232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47B67-BCD9-A23C-74A5-B6B4305164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D97AC1-A05B-34CF-E951-808C638BC5A6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86C648-134A-D37C-55A8-4CBBC0500E38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98DF4A-D594-D733-F4C6-612B13D6585B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B2092F-2CBD-6634-1F1C-EE77592A1D88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B11BD1-E9C7-70F4-BC35-ABB2685DB19B}"/>
              </a:ext>
            </a:extLst>
          </p:cNvPr>
          <p:cNvSpPr txBox="1"/>
          <p:nvPr/>
        </p:nvSpPr>
        <p:spPr>
          <a:xfrm>
            <a:off x="948889" y="1346902"/>
            <a:ext cx="1014285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solidFill>
                  <a:srgbClr val="415FFF"/>
                </a:solidFill>
              </a:rPr>
              <a:t>（3）典型应用场景：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>
                <a:latin typeface="vivo  Sans"/>
                <a:ea typeface="vivo Sans" panose="02000500000000000000"/>
              </a:rPr>
              <a:t>场景一（周末遛娃</a:t>
            </a:r>
            <a:r>
              <a:rPr dirty="0">
                <a:latin typeface="vivo  Sans"/>
                <a:ea typeface="vivo Sans" panose="02000500000000000000"/>
              </a:rPr>
              <a:t>）：妈妈说"带3岁宝宝去公园玩半天，要有母婴室"→AI规划低龄友好路线，全程≤4小时，预留午休。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>
                <a:latin typeface="vivo  Sans"/>
                <a:ea typeface="vivo Sans" panose="02000500000000000000"/>
              </a:rPr>
              <a:t>场景二（突发天气</a:t>
            </a:r>
            <a:r>
              <a:rPr dirty="0">
                <a:latin typeface="vivo  Sans"/>
                <a:ea typeface="vivo Sans" panose="02000500000000000000"/>
              </a:rPr>
              <a:t>）：旅行中暴雨→AI在10秒内将户外行程切换为室内方案（科技馆+亲子餐厅+游乐场），</a:t>
            </a:r>
            <a:r>
              <a:rPr dirty="0" err="1">
                <a:latin typeface="vivo  Sans"/>
                <a:ea typeface="vivo Sans" panose="02000500000000000000"/>
              </a:rPr>
              <a:t>自动重排路线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solidFill>
                  <a:srgbClr val="415FFF"/>
                </a:solidFill>
              </a:rPr>
              <a:t>（4）社会价值：</a:t>
            </a:r>
            <a:r>
              <a:rPr dirty="0">
                <a:latin typeface="vivo  Sans"/>
                <a:ea typeface="vivo Sans" panose="02000500000000000000"/>
              </a:rPr>
              <a:t>鼓励亲子陪伴与户外活动，响应"双减"政策；大幅降低出行门槛；智能推荐分散人流，助力旅游资源均衡利用。</a:t>
            </a:r>
          </a:p>
          <a:p>
            <a:endParaRPr dirty="0">
              <a:solidFill>
                <a:srgbClr val="415FFF"/>
              </a:solidFill>
              <a:latin typeface="vivo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6903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F1E5-C666-6D65-D09D-BAD29355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5BA6830B-E13E-6A55-05F5-0E1F283E179E}"/>
              </a:ext>
            </a:extLst>
          </p:cNvPr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085AB-6596-B5C3-A11A-306B9C1EFB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98E740-38E4-7233-FFE7-8F5C539E4225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E1F88A-9CAA-D9A8-DD57-3D50ABD41F9F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46DD8A-3AD0-F4D0-E022-6A20A4DACB22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093610-352E-DCFC-98BD-AF66095A9259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F51C8D-DAEB-34B7-01D9-7F0549017ADF}"/>
              </a:ext>
            </a:extLst>
          </p:cNvPr>
          <p:cNvSpPr txBox="1"/>
          <p:nvPr/>
        </p:nvSpPr>
        <p:spPr>
          <a:xfrm>
            <a:off x="956840" y="985557"/>
            <a:ext cx="10142850" cy="420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dirty="0"/>
          </a:p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dirty="0" err="1">
                <a:solidFill>
                  <a:srgbClr val="415FFF"/>
                </a:solidFill>
              </a:rPr>
              <a:t>市场欢迎程度</a:t>
            </a:r>
            <a:endParaRPr dirty="0">
              <a:solidFill>
                <a:srgbClr val="415FFF"/>
              </a:solidFill>
            </a:endParaRPr>
          </a:p>
          <a:p>
            <a:endParaRPr dirty="0">
              <a:solidFill>
                <a:srgbClr val="415FFF"/>
              </a:solidFill>
              <a:latin typeface="vivo San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对比传统地图APP（高德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百度</a:t>
            </a:r>
            <a:r>
              <a:rPr dirty="0">
                <a:latin typeface="vivo  Sans"/>
                <a:ea typeface="vivo Sans" panose="02000500000000000000"/>
              </a:rPr>
              <a:t>）：弥补亲子垂直场景空白，从"通用工具"升级为"</a:t>
            </a:r>
            <a:r>
              <a:rPr dirty="0" err="1">
                <a:latin typeface="vivo  Sans"/>
                <a:ea typeface="vivo Sans" panose="02000500000000000000"/>
              </a:rPr>
              <a:t>场景化解决方案</a:t>
            </a:r>
            <a:r>
              <a:rPr dirty="0">
                <a:latin typeface="vivo  Sans"/>
                <a:ea typeface="vivo Sans" panose="02000500000000000000"/>
              </a:rPr>
              <a:t>"，</a:t>
            </a:r>
            <a:r>
              <a:rPr dirty="0" err="1">
                <a:latin typeface="vivo  Sans"/>
                <a:ea typeface="vivo Sans" panose="02000500000000000000"/>
              </a:rPr>
              <a:t>差异化壁垒明显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对比攻略社区（小红书</a:t>
            </a:r>
            <a:r>
              <a:rPr dirty="0">
                <a:latin typeface="vivo  Sans"/>
                <a:ea typeface="vivo Sans" panose="02000500000000000000"/>
              </a:rPr>
              <a:t>/</a:t>
            </a:r>
            <a:r>
              <a:rPr dirty="0" err="1">
                <a:latin typeface="vivo  Sans"/>
                <a:ea typeface="vivo Sans" panose="02000500000000000000"/>
              </a:rPr>
              <a:t>马蜂窝</a:t>
            </a:r>
            <a:r>
              <a:rPr dirty="0">
                <a:latin typeface="vivo  Sans"/>
                <a:ea typeface="vivo Sans" panose="02000500000000000000"/>
              </a:rPr>
              <a:t>）：从"静态图文攻略"升级为"</a:t>
            </a:r>
            <a:r>
              <a:rPr dirty="0" err="1">
                <a:latin typeface="vivo  Sans"/>
                <a:ea typeface="vivo Sans" panose="02000500000000000000"/>
              </a:rPr>
              <a:t>动态交互式活地图</a:t>
            </a:r>
            <a:r>
              <a:rPr dirty="0">
                <a:latin typeface="vivo  Sans"/>
                <a:ea typeface="vivo Sans" panose="02000500000000000000"/>
              </a:rPr>
              <a:t>"，</a:t>
            </a:r>
            <a:r>
              <a:rPr dirty="0" err="1">
                <a:latin typeface="vivo  Sans"/>
                <a:ea typeface="vivo Sans" panose="02000500000000000000"/>
              </a:rPr>
              <a:t>所见即所得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err="1">
                <a:latin typeface="vivo  Sans"/>
                <a:ea typeface="vivo Sans" panose="02000500000000000000"/>
              </a:rPr>
              <a:t>对比通用AI助手（ChatGPT等</a:t>
            </a:r>
            <a:r>
              <a:rPr dirty="0">
                <a:latin typeface="vivo  Sans"/>
                <a:ea typeface="vivo Sans" panose="02000500000000000000"/>
              </a:rPr>
              <a:t>）：</a:t>
            </a:r>
            <a:r>
              <a:rPr dirty="0" err="1">
                <a:latin typeface="vivo  Sans"/>
                <a:ea typeface="vivo Sans" panose="02000500000000000000"/>
              </a:rPr>
              <a:t>注入亲子垂直领域知识与安全约束，输出精准、安全、可执行的方案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vivo  Sans"/>
                <a:ea typeface="vivo Sans" panose="02000500000000000000"/>
              </a:rPr>
              <a:t> </a:t>
            </a:r>
            <a:r>
              <a:rPr dirty="0" err="1">
                <a:latin typeface="vivo  Sans"/>
                <a:ea typeface="vivo Sans" panose="02000500000000000000"/>
              </a:rPr>
              <a:t>渠道壁垒：基于vivo快应用生态，免安装即开即用、系统级入口，覆盖亿级vivo用户，获客成本远低于独立APP</a:t>
            </a:r>
            <a:r>
              <a:rPr dirty="0">
                <a:latin typeface="vivo  Sans"/>
                <a:ea typeface="vivo Sans" panose="02000500000000000000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807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1578</Words>
  <Application>Microsoft Office PowerPoint</Application>
  <PresentationFormat>宽屏</PresentationFormat>
  <Paragraphs>199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vivo  Sans</vt:lpstr>
      <vt:lpstr>vivo Sans</vt:lpstr>
      <vt:lpstr>vivo Sans Bold</vt:lpstr>
      <vt:lpstr>vivo Sans Extrabold</vt:lpstr>
      <vt:lpstr>vivo Sans Medium</vt:lpstr>
      <vt:lpstr>DengXian</vt:lpstr>
      <vt:lpstr>DengXian</vt:lpstr>
      <vt:lpstr>微软雅黑</vt:lpstr>
      <vt:lpstr>系统字体常规体</vt:lpstr>
      <vt:lpstr>Arial</vt:lpstr>
      <vt:lpstr>Calibri</vt:lpstr>
      <vt:lpstr>Calibri Light</vt:lpstr>
      <vt:lpstr>Verdana</vt:lpstr>
      <vt:lpstr>Wingdings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作品简介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光辉 黄</cp:lastModifiedBy>
  <cp:revision>1173</cp:revision>
  <dcterms:created xsi:type="dcterms:W3CDTF">2018-12-24T08:48:00Z</dcterms:created>
  <dcterms:modified xsi:type="dcterms:W3CDTF">2026-05-10T16:17:29Z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1B8E7C6DA74F4138844B7EDBF1CF133E_12</vt:lpwstr>
  </property>
  <property fmtid="{D5CDD505-2E9C-101B-9397-08002B2CF9AE}" pid="3" name="KSOProductBuildVer">
    <vt:lpwstr>2052-12.1.0.25865</vt:lpwstr>
  </property>
</Properties>
</file>